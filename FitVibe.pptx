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8288000" cy="10287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Francois One" panose="020B0604020202020204" charset="0"/>
      <p:regular r:id="rId16"/>
    </p:embeddedFont>
    <p:embeddedFont>
      <p:font typeface="Paytone One" panose="020B0604020202020204" charset="0"/>
      <p:regular r:id="rId17"/>
    </p:embeddedFont>
    <p:embeddedFont>
      <p:font typeface="Poppins" panose="020B0604020202020204" charset="0"/>
      <p:regular r:id="rId18"/>
    </p:embeddedFont>
    <p:embeddedFont>
      <p:font typeface="Poppins Bold" panose="020B0604020202020204" charset="0"/>
      <p:regular r:id="rId19"/>
    </p:embeddedFont>
    <p:embeddedFont>
      <p:font typeface="Poppins Italics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10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3447" y="4181306"/>
            <a:ext cx="4287278" cy="1479009"/>
            <a:chOff x="0" y="0"/>
            <a:chExt cx="1129160" cy="3895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9160" cy="389533"/>
            </a:xfrm>
            <a:custGeom>
              <a:avLst/>
              <a:gdLst/>
              <a:ahLst/>
              <a:cxnLst/>
              <a:rect l="l" t="t" r="r" b="b"/>
              <a:pathLst>
                <a:path w="1129160" h="389533">
                  <a:moveTo>
                    <a:pt x="180579" y="0"/>
                  </a:moveTo>
                  <a:lnTo>
                    <a:pt x="948581" y="0"/>
                  </a:lnTo>
                  <a:cubicBezTo>
                    <a:pt x="1048312" y="0"/>
                    <a:pt x="1129160" y="80848"/>
                    <a:pt x="1129160" y="180579"/>
                  </a:cubicBezTo>
                  <a:lnTo>
                    <a:pt x="1129160" y="208954"/>
                  </a:lnTo>
                  <a:cubicBezTo>
                    <a:pt x="1129160" y="308685"/>
                    <a:pt x="1048312" y="389533"/>
                    <a:pt x="948581" y="389533"/>
                  </a:cubicBezTo>
                  <a:lnTo>
                    <a:pt x="180579" y="389533"/>
                  </a:lnTo>
                  <a:cubicBezTo>
                    <a:pt x="80848" y="389533"/>
                    <a:pt x="0" y="308685"/>
                    <a:pt x="0" y="208954"/>
                  </a:cubicBezTo>
                  <a:lnTo>
                    <a:pt x="0" y="180579"/>
                  </a:lnTo>
                  <a:cubicBezTo>
                    <a:pt x="0" y="80848"/>
                    <a:pt x="80848" y="0"/>
                    <a:pt x="18057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98DFA">
                    <a:alpha val="60000"/>
                  </a:srgbClr>
                </a:gs>
                <a:gs pos="50000">
                  <a:srgbClr val="0151B8">
                    <a:alpha val="144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29160" cy="427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3890140">
            <a:off x="16906391" y="141292"/>
            <a:ext cx="5289783" cy="528978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90000"/>
                  </a:srgbClr>
                </a:gs>
                <a:gs pos="50000">
                  <a:srgbClr val="0151B8">
                    <a:alpha val="216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3890140">
            <a:off x="17373685" y="4678407"/>
            <a:ext cx="1384678" cy="138467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90000"/>
                  </a:srgbClr>
                </a:gs>
                <a:gs pos="100000">
                  <a:srgbClr val="0151B8">
                    <a:alpha val="216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3770140">
            <a:off x="15794190" y="675669"/>
            <a:ext cx="730678" cy="73067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100000"/>
                  </a:srgbClr>
                </a:gs>
                <a:gs pos="100000">
                  <a:srgbClr val="0151B8">
                    <a:alpha val="2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008209" y="1721623"/>
            <a:ext cx="6661162" cy="66611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51B8">
                    <a:alpha val="100000"/>
                  </a:srgbClr>
                </a:gs>
                <a:gs pos="50000">
                  <a:srgbClr val="0151B8">
                    <a:alpha val="24000"/>
                  </a:srgbClr>
                </a:gs>
                <a:gs pos="100000">
                  <a:srgbClr val="0151B8">
                    <a:alpha val="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8262" tIns="48262" rIns="48262" bIns="48262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395650" y="2109064"/>
            <a:ext cx="5886280" cy="588628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r="-65289"/>
              </a:stretch>
            </a:blipFill>
            <a:ln w="12382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9" name="Freeform 19"/>
          <p:cNvSpPr/>
          <p:nvPr/>
        </p:nvSpPr>
        <p:spPr>
          <a:xfrm>
            <a:off x="1203447" y="756416"/>
            <a:ext cx="1145516" cy="997239"/>
          </a:xfrm>
          <a:custGeom>
            <a:avLst/>
            <a:gdLst/>
            <a:ahLst/>
            <a:cxnLst/>
            <a:rect l="l" t="t" r="r" b="b"/>
            <a:pathLst>
              <a:path w="1145516" h="997239">
                <a:moveTo>
                  <a:pt x="0" y="0"/>
                </a:moveTo>
                <a:lnTo>
                  <a:pt x="1145517" y="0"/>
                </a:lnTo>
                <a:lnTo>
                  <a:pt x="1145517" y="997239"/>
                </a:lnTo>
                <a:lnTo>
                  <a:pt x="0" y="997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-115063" y="9461658"/>
            <a:ext cx="18518127" cy="798211"/>
            <a:chOff x="0" y="0"/>
            <a:chExt cx="4877202" cy="21022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877202" cy="210228"/>
            </a:xfrm>
            <a:custGeom>
              <a:avLst/>
              <a:gdLst/>
              <a:ahLst/>
              <a:cxnLst/>
              <a:rect l="l" t="t" r="r" b="b"/>
              <a:pathLst>
                <a:path w="4877202" h="210228">
                  <a:moveTo>
                    <a:pt x="0" y="0"/>
                  </a:moveTo>
                  <a:lnTo>
                    <a:pt x="4877202" y="0"/>
                  </a:lnTo>
                  <a:lnTo>
                    <a:pt x="4877202" y="210228"/>
                  </a:lnTo>
                  <a:lnTo>
                    <a:pt x="0" y="210228"/>
                  </a:ln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881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4877202" cy="276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2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42432" y="2701723"/>
            <a:ext cx="8258175" cy="866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75"/>
              </a:lnSpc>
              <a:spcBef>
                <a:spcPct val="0"/>
              </a:spcBef>
            </a:pPr>
            <a:r>
              <a:rPr lang="en-US" sz="6124" u="none" strike="noStrike">
                <a:solidFill>
                  <a:srgbClr val="000000"/>
                </a:solidFill>
                <a:latin typeface="Francois One"/>
                <a:ea typeface="Francois One"/>
                <a:cs typeface="Francois One"/>
                <a:sym typeface="Francois One"/>
              </a:rPr>
              <a:t>Khóa Luận Tốt Nghiệp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99763" y="4373522"/>
            <a:ext cx="7541671" cy="1048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2"/>
              </a:lnSpc>
            </a:pPr>
            <a:r>
              <a:rPr lang="en-US" sz="298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NGHIÊN CỨU THIẾT KẾ VÀ XÂY DỰNG </a:t>
            </a:r>
          </a:p>
          <a:p>
            <a:pPr marL="0" lvl="0" indent="0" algn="l">
              <a:lnSpc>
                <a:spcPts val="4172"/>
              </a:lnSpc>
              <a:spcBef>
                <a:spcPct val="0"/>
              </a:spcBef>
            </a:pPr>
            <a:r>
              <a:rPr lang="en-US" sz="298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WEBSITE TẬP LUYỆN THỂ DỤC FITVIBE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466259" y="1012169"/>
            <a:ext cx="5428583" cy="451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3"/>
              </a:lnSpc>
              <a:spcBef>
                <a:spcPct val="0"/>
              </a:spcBef>
            </a:pPr>
            <a:r>
              <a:rPr lang="en-US" sz="2459" b="1">
                <a:solidFill>
                  <a:srgbClr val="0453B9"/>
                </a:solidFill>
                <a:latin typeface="Poppins Bold"/>
                <a:ea typeface="Poppins Bold"/>
                <a:cs typeface="Poppins Bold"/>
                <a:sym typeface="Poppins Bold"/>
              </a:rPr>
              <a:t>FitVibe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61638" y="7911588"/>
            <a:ext cx="3631535" cy="442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1"/>
              </a:lnSpc>
              <a:spcBef>
                <a:spcPct val="0"/>
              </a:spcBef>
            </a:pPr>
            <a:r>
              <a:rPr lang="en-US" sz="24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Người</a:t>
            </a:r>
            <a:r>
              <a:rPr lang="en-US" sz="245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5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Trình</a:t>
            </a:r>
            <a:r>
              <a:rPr lang="en-US" sz="2458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58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Bày</a:t>
            </a:r>
            <a:endParaRPr lang="en-US" sz="2458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5114332" y="7915275"/>
            <a:ext cx="455295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4"/>
              </a:lnSpc>
              <a:spcBef>
                <a:spcPct val="0"/>
              </a:spcBef>
            </a:pPr>
            <a:r>
              <a:rPr lang="en-US" sz="246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GVHD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61638" y="8315325"/>
            <a:ext cx="3819525" cy="43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11"/>
              </a:lnSpc>
              <a:spcBef>
                <a:spcPct val="0"/>
              </a:spcBef>
            </a:pPr>
            <a:r>
              <a:rPr lang="en-US" sz="2579" b="1" u="none" strike="noStrike" spc="-51" dirty="0">
                <a:solidFill>
                  <a:srgbClr val="0453B9"/>
                </a:solidFill>
                <a:latin typeface="Poppins Bold"/>
                <a:ea typeface="Poppins Bold"/>
                <a:cs typeface="Poppins Bold"/>
                <a:sym typeface="Poppins Bold"/>
              </a:rPr>
              <a:t>Hoàng Ngọc S</a:t>
            </a:r>
            <a:r>
              <a:rPr lang="vi-VN" sz="2579" b="1" u="none" strike="noStrike" spc="-51" dirty="0">
                <a:solidFill>
                  <a:srgbClr val="0453B9"/>
                </a:solidFill>
                <a:latin typeface="Poppins Bold"/>
                <a:ea typeface="Poppins Bold"/>
                <a:cs typeface="Poppins Bold"/>
                <a:sym typeface="Poppins Bold"/>
              </a:rPr>
              <a:t>ơ</a:t>
            </a:r>
            <a:r>
              <a:rPr lang="en-US" sz="2579" b="1" u="none" strike="noStrike" spc="-51" dirty="0">
                <a:solidFill>
                  <a:srgbClr val="0453B9"/>
                </a:solidFill>
                <a:latin typeface="Poppins Bold"/>
                <a:ea typeface="Poppins Bold"/>
                <a:cs typeface="Poppins Bold"/>
                <a:sym typeface="Poppins Bold"/>
              </a:rPr>
              <a:t>n Hà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114332" y="8315325"/>
            <a:ext cx="4486275" cy="434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11"/>
              </a:lnSpc>
              <a:spcBef>
                <a:spcPct val="0"/>
              </a:spcBef>
            </a:pPr>
            <a:r>
              <a:rPr lang="en-US" sz="2579" b="1" u="none" strike="noStrike" spc="-51" dirty="0" err="1">
                <a:solidFill>
                  <a:srgbClr val="0453B9"/>
                </a:solidFill>
                <a:latin typeface="Poppins Bold"/>
                <a:ea typeface="Poppins Bold"/>
                <a:cs typeface="Poppins Bold"/>
                <a:sym typeface="Poppins Bold"/>
              </a:rPr>
              <a:t>ThS</a:t>
            </a:r>
            <a:r>
              <a:rPr lang="en-US" sz="2579" b="1" u="none" strike="noStrike" spc="-51" dirty="0">
                <a:solidFill>
                  <a:srgbClr val="0453B9"/>
                </a:solidFill>
                <a:latin typeface="Poppins Bold"/>
                <a:ea typeface="Poppins Bold"/>
                <a:cs typeface="Poppins Bold"/>
                <a:sym typeface="Poppins Bold"/>
              </a:rPr>
              <a:t>. </a:t>
            </a:r>
            <a:r>
              <a:rPr lang="en-US" sz="2579" b="1" spc="-51" dirty="0" err="1">
                <a:solidFill>
                  <a:srgbClr val="0453B9"/>
                </a:solidFill>
                <a:latin typeface="Poppins Bold"/>
                <a:ea typeface="Poppins Bold"/>
                <a:cs typeface="Poppins Bold"/>
                <a:sym typeface="Poppins Bold"/>
              </a:rPr>
              <a:t>Nguyễn</a:t>
            </a:r>
            <a:r>
              <a:rPr lang="en-US" sz="2579" b="1" spc="-51" dirty="0">
                <a:solidFill>
                  <a:srgbClr val="0453B9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579" b="1" spc="-51" dirty="0" err="1">
                <a:solidFill>
                  <a:srgbClr val="0453B9"/>
                </a:solidFill>
                <a:latin typeface="Poppins Bold"/>
                <a:ea typeface="Poppins Bold"/>
                <a:cs typeface="Poppins Bold"/>
                <a:sym typeface="Poppins Bold"/>
              </a:rPr>
              <a:t>Đức</a:t>
            </a:r>
            <a:r>
              <a:rPr lang="en-US" sz="2579" b="1" spc="-51" dirty="0">
                <a:solidFill>
                  <a:srgbClr val="0453B9"/>
                </a:solidFill>
                <a:latin typeface="Poppins Bold"/>
                <a:ea typeface="Poppins Bold"/>
                <a:cs typeface="Poppins Bold"/>
                <a:sym typeface="Poppins Bold"/>
              </a:rPr>
              <a:t> L</a:t>
            </a:r>
            <a:r>
              <a:rPr lang="vi-VN" sz="2579" b="1" spc="-51" dirty="0">
                <a:solidFill>
                  <a:srgbClr val="0453B9"/>
                </a:solidFill>
                <a:latin typeface="Poppins Bold"/>
                <a:ea typeface="Poppins Bold"/>
                <a:cs typeface="Poppins Bold"/>
                <a:sym typeface="Poppins Bold"/>
              </a:rPr>
              <a:t>ư</a:t>
            </a:r>
            <a:r>
              <a:rPr lang="en-US" sz="2579" b="1" spc="-51">
                <a:solidFill>
                  <a:srgbClr val="0453B9"/>
                </a:solidFill>
                <a:latin typeface="Poppins Bold"/>
                <a:ea typeface="Poppins Bold"/>
                <a:cs typeface="Poppins Bold"/>
                <a:sym typeface="Poppins Bold"/>
              </a:rPr>
              <a:t>u</a:t>
            </a:r>
            <a:endParaRPr lang="en-US" sz="2579" b="1" u="none" strike="noStrike" spc="-51" dirty="0">
              <a:solidFill>
                <a:srgbClr val="0453B9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  <p:transition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47675" y="7781925"/>
            <a:ext cx="2952750" cy="2952750"/>
            <a:chOff x="0" y="0"/>
            <a:chExt cx="762000" cy="762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398DFA">
                <a:alpha val="4000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097000" y="4572000"/>
            <a:ext cx="7592060" cy="7592060"/>
            <a:chOff x="0" y="0"/>
            <a:chExt cx="762000" cy="762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398DFA">
                <a:alpha val="4000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179547" y="1907222"/>
            <a:ext cx="5574347" cy="5574347"/>
            <a:chOff x="0" y="0"/>
            <a:chExt cx="1524000" cy="152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762000" y="0"/>
                  </a:moveTo>
                  <a:cubicBezTo>
                    <a:pt x="341159" y="0"/>
                    <a:pt x="0" y="341159"/>
                    <a:pt x="0" y="762000"/>
                  </a:cubicBezTo>
                  <a:cubicBezTo>
                    <a:pt x="0" y="1182841"/>
                    <a:pt x="341159" y="1524000"/>
                    <a:pt x="762000" y="1524000"/>
                  </a:cubicBezTo>
                  <a:cubicBezTo>
                    <a:pt x="1182841" y="1524000"/>
                    <a:pt x="1524000" y="1182841"/>
                    <a:pt x="1524000" y="762000"/>
                  </a:cubicBezTo>
                  <a:cubicBezTo>
                    <a:pt x="1524000" y="341159"/>
                    <a:pt x="1182841" y="0"/>
                    <a:pt x="762000" y="0"/>
                  </a:cubicBezTo>
                  <a:close/>
                </a:path>
              </a:pathLst>
            </a:custGeom>
            <a:solidFill>
              <a:srgbClr val="0453B9">
                <a:alpha val="29804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524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 flipH="1">
            <a:off x="9144000" y="3619500"/>
            <a:ext cx="5238750" cy="1356757"/>
          </a:xfrm>
          <a:prstGeom prst="line">
            <a:avLst/>
          </a:prstGeom>
          <a:ln w="28575" cap="flat">
            <a:solidFill>
              <a:srgbClr val="398DFA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2" name="AutoShape 12"/>
          <p:cNvSpPr/>
          <p:nvPr/>
        </p:nvSpPr>
        <p:spPr>
          <a:xfrm>
            <a:off x="9144000" y="3619500"/>
            <a:ext cx="0" cy="1356757"/>
          </a:xfrm>
          <a:prstGeom prst="line">
            <a:avLst/>
          </a:prstGeom>
          <a:ln w="28575" cap="flat">
            <a:solidFill>
              <a:srgbClr val="398DFA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3" name="AutoShape 13"/>
          <p:cNvSpPr/>
          <p:nvPr/>
        </p:nvSpPr>
        <p:spPr>
          <a:xfrm>
            <a:off x="3905250" y="3619500"/>
            <a:ext cx="5238750" cy="1356757"/>
          </a:xfrm>
          <a:prstGeom prst="line">
            <a:avLst/>
          </a:prstGeom>
          <a:ln w="28575" cap="flat">
            <a:solidFill>
              <a:srgbClr val="398DFA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4" name="Group 14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98DF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28750" y="1428750"/>
            <a:ext cx="4953000" cy="2095500"/>
            <a:chOff x="0" y="0"/>
            <a:chExt cx="6604000" cy="2794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604000" cy="2794000"/>
            </a:xfrm>
            <a:custGeom>
              <a:avLst/>
              <a:gdLst/>
              <a:ahLst/>
              <a:cxnLst/>
              <a:rect l="l" t="t" r="r" b="b"/>
              <a:pathLst>
                <a:path w="6604000" h="2794000">
                  <a:moveTo>
                    <a:pt x="279400" y="0"/>
                  </a:moveTo>
                  <a:lnTo>
                    <a:pt x="6324600" y="0"/>
                  </a:lnTo>
                  <a:cubicBezTo>
                    <a:pt x="6478908" y="0"/>
                    <a:pt x="6604000" y="125092"/>
                    <a:pt x="6604000" y="279400"/>
                  </a:cubicBezTo>
                  <a:lnTo>
                    <a:pt x="6604000" y="2514600"/>
                  </a:lnTo>
                  <a:cubicBezTo>
                    <a:pt x="6604000" y="2668908"/>
                    <a:pt x="6478908" y="2794000"/>
                    <a:pt x="6324600" y="2794000"/>
                  </a:cubicBezTo>
                  <a:lnTo>
                    <a:pt x="279400" y="2794000"/>
                  </a:lnTo>
                  <a:cubicBezTo>
                    <a:pt x="125092" y="2794000"/>
                    <a:pt x="0" y="2668908"/>
                    <a:pt x="0" y="2514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F0F7FF"/>
            </a:solidFill>
            <a:ln w="19050" cap="sq">
              <a:solidFill>
                <a:srgbClr val="398DFA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6604000" cy="283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667500" y="1428750"/>
            <a:ext cx="4953000" cy="2095500"/>
            <a:chOff x="0" y="0"/>
            <a:chExt cx="6604000" cy="2794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604000" cy="2794000"/>
            </a:xfrm>
            <a:custGeom>
              <a:avLst/>
              <a:gdLst/>
              <a:ahLst/>
              <a:cxnLst/>
              <a:rect l="l" t="t" r="r" b="b"/>
              <a:pathLst>
                <a:path w="6604000" h="2794000">
                  <a:moveTo>
                    <a:pt x="279400" y="0"/>
                  </a:moveTo>
                  <a:lnTo>
                    <a:pt x="6324600" y="0"/>
                  </a:lnTo>
                  <a:cubicBezTo>
                    <a:pt x="6478908" y="0"/>
                    <a:pt x="6604000" y="125092"/>
                    <a:pt x="6604000" y="279400"/>
                  </a:cubicBezTo>
                  <a:lnTo>
                    <a:pt x="6604000" y="2514600"/>
                  </a:lnTo>
                  <a:cubicBezTo>
                    <a:pt x="6604000" y="2668908"/>
                    <a:pt x="6478908" y="2794000"/>
                    <a:pt x="6324600" y="2794000"/>
                  </a:cubicBezTo>
                  <a:lnTo>
                    <a:pt x="279400" y="2794000"/>
                  </a:lnTo>
                  <a:cubicBezTo>
                    <a:pt x="125092" y="2794000"/>
                    <a:pt x="0" y="2668908"/>
                    <a:pt x="0" y="2514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F0F7FF"/>
            </a:solidFill>
            <a:ln w="19050" cap="sq">
              <a:solidFill>
                <a:srgbClr val="398DFA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6604000" cy="283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906250" y="1428750"/>
            <a:ext cx="4953000" cy="2095500"/>
            <a:chOff x="0" y="0"/>
            <a:chExt cx="6604000" cy="2794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604000" cy="2794000"/>
            </a:xfrm>
            <a:custGeom>
              <a:avLst/>
              <a:gdLst/>
              <a:ahLst/>
              <a:cxnLst/>
              <a:rect l="l" t="t" r="r" b="b"/>
              <a:pathLst>
                <a:path w="6604000" h="2794000">
                  <a:moveTo>
                    <a:pt x="279400" y="0"/>
                  </a:moveTo>
                  <a:lnTo>
                    <a:pt x="6324600" y="0"/>
                  </a:lnTo>
                  <a:cubicBezTo>
                    <a:pt x="6478908" y="0"/>
                    <a:pt x="6604000" y="125092"/>
                    <a:pt x="6604000" y="279400"/>
                  </a:cubicBezTo>
                  <a:lnTo>
                    <a:pt x="6604000" y="2514600"/>
                  </a:lnTo>
                  <a:cubicBezTo>
                    <a:pt x="6604000" y="2668908"/>
                    <a:pt x="6478908" y="2794000"/>
                    <a:pt x="6324600" y="2794000"/>
                  </a:cubicBezTo>
                  <a:lnTo>
                    <a:pt x="279400" y="2794000"/>
                  </a:lnTo>
                  <a:cubicBezTo>
                    <a:pt x="125092" y="2794000"/>
                    <a:pt x="0" y="2668908"/>
                    <a:pt x="0" y="2514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F0F7FF"/>
            </a:solidFill>
            <a:ln w="19050" cap="sq">
              <a:solidFill>
                <a:srgbClr val="398DFA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6604000" cy="283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857750" y="5288597"/>
            <a:ext cx="8572500" cy="2667000"/>
            <a:chOff x="0" y="0"/>
            <a:chExt cx="11430000" cy="3556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430000" cy="3556000"/>
            </a:xfrm>
            <a:custGeom>
              <a:avLst/>
              <a:gdLst/>
              <a:ahLst/>
              <a:cxnLst/>
              <a:rect l="l" t="t" r="r" b="b"/>
              <a:pathLst>
                <a:path w="11430000" h="3556000">
                  <a:moveTo>
                    <a:pt x="355600" y="0"/>
                  </a:moveTo>
                  <a:lnTo>
                    <a:pt x="11074400" y="0"/>
                  </a:lnTo>
                  <a:cubicBezTo>
                    <a:pt x="11270793" y="0"/>
                    <a:pt x="11430000" y="159208"/>
                    <a:pt x="11430000" y="355600"/>
                  </a:cubicBezTo>
                  <a:lnTo>
                    <a:pt x="11430000" y="3200400"/>
                  </a:lnTo>
                  <a:cubicBezTo>
                    <a:pt x="11430000" y="3396792"/>
                    <a:pt x="11270793" y="3556000"/>
                    <a:pt x="11074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98DF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1430000" cy="359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0" y="9810750"/>
            <a:ext cx="18288000" cy="476250"/>
            <a:chOff x="0" y="0"/>
            <a:chExt cx="24384000" cy="635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4384000" cy="635000"/>
            </a:xfrm>
            <a:custGeom>
              <a:avLst/>
              <a:gdLst/>
              <a:ahLst/>
              <a:cxnLst/>
              <a:rect l="l" t="t" r="r" b="b"/>
              <a:pathLst>
                <a:path w="24384000" h="6350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0"/>
                  </a:lnTo>
                  <a:lnTo>
                    <a:pt x="0" y="635000"/>
                  </a:ln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98DF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24384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3429000" y="485775"/>
            <a:ext cx="11430000" cy="72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80"/>
              </a:lnSpc>
              <a:spcBef>
                <a:spcPct val="0"/>
              </a:spcBef>
            </a:pPr>
            <a:r>
              <a:rPr lang="en-US" sz="4200" u="none" strike="noStrike">
                <a:solidFill>
                  <a:srgbClr val="0453B9"/>
                </a:solidFill>
                <a:latin typeface="Francois One"/>
                <a:ea typeface="Francois One"/>
                <a:cs typeface="Francois One"/>
                <a:sym typeface="Francois One"/>
              </a:rPr>
              <a:t>LÝ DO LỰA CHỌN ĐỀ TÀI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619500" y="1581150"/>
            <a:ext cx="571500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3200" u="none" strike="noStrike">
                <a:solidFill>
                  <a:srgbClr val="0453B9"/>
                </a:solidFill>
                <a:latin typeface="Poppins"/>
                <a:ea typeface="Poppins"/>
                <a:cs typeface="Poppins"/>
                <a:sym typeface="Poppins"/>
              </a:rPr>
              <a:t>⚠️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19250" y="2085975"/>
            <a:ext cx="45720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b="1" u="none" strike="noStrike">
                <a:solidFill>
                  <a:srgbClr val="0453B9"/>
                </a:solidFill>
                <a:latin typeface="Poppins Bold"/>
                <a:ea typeface="Poppins Bold"/>
                <a:cs typeface="Poppins Bold"/>
                <a:sym typeface="Poppins Bold"/>
              </a:rPr>
              <a:t>Thực trạng tập luyện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666875" y="2440940"/>
            <a:ext cx="4476750" cy="604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9"/>
              </a:lnSpc>
              <a:spcBef>
                <a:spcPct val="0"/>
              </a:spcBef>
            </a:pPr>
            <a:r>
              <a:rPr lang="en-US" sz="16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Người tập tự phát dễ sai kỹ thuật, gây chấn thương thể chất.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858250" y="1581150"/>
            <a:ext cx="571500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3200" u="none" strike="noStrike">
                <a:solidFill>
                  <a:srgbClr val="0453B9"/>
                </a:solidFill>
                <a:latin typeface="Poppins"/>
                <a:ea typeface="Poppins"/>
                <a:cs typeface="Poppins"/>
                <a:sym typeface="Poppins"/>
              </a:rPr>
              <a:t>📱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858000" y="2085975"/>
            <a:ext cx="45720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b="1" u="none" strike="noStrike">
                <a:solidFill>
                  <a:srgbClr val="0453B9"/>
                </a:solidFill>
                <a:latin typeface="Poppins Bold"/>
                <a:ea typeface="Poppins Bold"/>
                <a:cs typeface="Poppins Bold"/>
                <a:sym typeface="Poppins Bold"/>
              </a:rPr>
              <a:t>Hạn chế ứng dụng cũ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905625" y="2440940"/>
            <a:ext cx="4476750" cy="604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9"/>
              </a:lnSpc>
              <a:spcBef>
                <a:spcPct val="0"/>
              </a:spcBef>
            </a:pPr>
            <a:r>
              <a:rPr lang="en-US" sz="16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Cung cấp video một chiều tĩnh lặng, thiếu tương tác và tính kỷ luật.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097000" y="1581150"/>
            <a:ext cx="571500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3200" u="none" strike="noStrike">
                <a:solidFill>
                  <a:srgbClr val="0453B9"/>
                </a:solidFill>
                <a:latin typeface="Poppins"/>
                <a:ea typeface="Poppins"/>
                <a:cs typeface="Poppins"/>
                <a:sym typeface="Poppins"/>
              </a:rPr>
              <a:t>🚀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096750" y="2085975"/>
            <a:ext cx="45720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b="1" u="none" strike="noStrike">
                <a:solidFill>
                  <a:srgbClr val="0453B9"/>
                </a:solidFill>
                <a:latin typeface="Poppins Bold"/>
                <a:ea typeface="Poppins Bold"/>
                <a:cs typeface="Poppins Bold"/>
                <a:sym typeface="Poppins Bold"/>
              </a:rPr>
              <a:t>Xu thế công nghệ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144375" y="2440940"/>
            <a:ext cx="4476750" cy="604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9"/>
              </a:lnSpc>
              <a:spcBef>
                <a:spcPct val="0"/>
              </a:spcBef>
            </a:pPr>
            <a:r>
              <a:rPr lang="en-US" sz="16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Sự bùng nổ của HealthTech kết hợp Trí tuệ nhân tạo tạo sinh (Generative AI).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143500" y="5462357"/>
            <a:ext cx="8001000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3200" u="none" strike="noStrike">
                <a:solidFill>
                  <a:srgbClr val="FFFFFF"/>
                </a:solidFill>
                <a:latin typeface="Francois One"/>
                <a:ea typeface="Francois One"/>
                <a:cs typeface="Francois One"/>
                <a:sym typeface="Francois One"/>
              </a:rPr>
              <a:t>👉 GIẢI PHÁP FITVIBE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238750" y="6357620"/>
            <a:ext cx="7810500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Nền tảng kết nối Học viên - Coach</a:t>
            </a:r>
          </a:p>
          <a:p>
            <a:pPr marL="0" lvl="0" indent="0" algn="ctr">
              <a:lnSpc>
                <a:spcPts val="32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có kiểm soát chất lượng và tích hợp</a:t>
            </a:r>
          </a:p>
          <a:p>
            <a:pPr marL="0" lvl="0" indent="0" algn="ctr">
              <a:lnSpc>
                <a:spcPts val="32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Trợ lý AI thông minh</a:t>
            </a:r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485775"/>
            <a:ext cx="2952750" cy="2914650"/>
            <a:chOff x="0" y="0"/>
            <a:chExt cx="762000" cy="7521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2000" cy="752168"/>
            </a:xfrm>
            <a:custGeom>
              <a:avLst/>
              <a:gdLst/>
              <a:ahLst/>
              <a:cxnLst/>
              <a:rect l="l" t="t" r="r" b="b"/>
              <a:pathLst>
                <a:path w="762000" h="752168">
                  <a:moveTo>
                    <a:pt x="381000" y="0"/>
                  </a:moveTo>
                  <a:cubicBezTo>
                    <a:pt x="170580" y="0"/>
                    <a:pt x="0" y="168378"/>
                    <a:pt x="0" y="376084"/>
                  </a:cubicBezTo>
                  <a:cubicBezTo>
                    <a:pt x="0" y="583789"/>
                    <a:pt x="170580" y="752168"/>
                    <a:pt x="381000" y="752168"/>
                  </a:cubicBezTo>
                  <a:cubicBezTo>
                    <a:pt x="591420" y="752168"/>
                    <a:pt x="762000" y="583789"/>
                    <a:pt x="762000" y="376084"/>
                  </a:cubicBezTo>
                  <a:cubicBezTo>
                    <a:pt x="762000" y="168378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398DFA">
                <a:alpha val="4000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62000" cy="7902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98DF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429000" y="476250"/>
            <a:ext cx="11430000" cy="721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22"/>
              </a:lnSpc>
              <a:spcBef>
                <a:spcPct val="0"/>
              </a:spcBef>
            </a:pPr>
            <a:r>
              <a:rPr lang="en-US" sz="4230" u="none" strike="noStrike">
                <a:solidFill>
                  <a:srgbClr val="0453B9"/>
                </a:solidFill>
                <a:latin typeface="Francois One"/>
                <a:ea typeface="Francois One"/>
                <a:cs typeface="Francois One"/>
                <a:sym typeface="Francois One"/>
              </a:rPr>
              <a:t>MỤC TIÊU NGHIÊN CỨU &amp; PHẠM VI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62000" y="1428750"/>
            <a:ext cx="8191500" cy="476250"/>
            <a:chOff x="0" y="0"/>
            <a:chExt cx="10922000" cy="635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22000" cy="635000"/>
            </a:xfrm>
            <a:custGeom>
              <a:avLst/>
              <a:gdLst/>
              <a:ahLst/>
              <a:cxnLst/>
              <a:rect l="l" t="t" r="r" b="b"/>
              <a:pathLst>
                <a:path w="10922000" h="635000">
                  <a:moveTo>
                    <a:pt x="63500" y="0"/>
                  </a:moveTo>
                  <a:lnTo>
                    <a:pt x="10858500" y="0"/>
                  </a:lnTo>
                  <a:cubicBezTo>
                    <a:pt x="10893570" y="0"/>
                    <a:pt x="10922000" y="28430"/>
                    <a:pt x="10922000" y="63500"/>
                  </a:cubicBezTo>
                  <a:lnTo>
                    <a:pt x="10922000" y="571500"/>
                  </a:lnTo>
                  <a:cubicBezTo>
                    <a:pt x="10922000" y="606570"/>
                    <a:pt x="10893570" y="635000"/>
                    <a:pt x="108585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0453B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922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952750" y="1457325"/>
            <a:ext cx="3810000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199" u="none" strike="noStrike">
                <a:solidFill>
                  <a:srgbClr val="FFFFFF"/>
                </a:solidFill>
                <a:latin typeface="Francois One"/>
                <a:ea typeface="Francois One"/>
                <a:cs typeface="Francois One"/>
                <a:sym typeface="Francois One"/>
              </a:rPr>
              <a:t>🎯 MỤC TIÊU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62000" y="2078332"/>
            <a:ext cx="8191500" cy="4660265"/>
            <a:chOff x="0" y="0"/>
            <a:chExt cx="10922000" cy="621368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922000" cy="6213687"/>
            </a:xfrm>
            <a:custGeom>
              <a:avLst/>
              <a:gdLst/>
              <a:ahLst/>
              <a:cxnLst/>
              <a:rect l="l" t="t" r="r" b="b"/>
              <a:pathLst>
                <a:path w="10922000" h="6213687">
                  <a:moveTo>
                    <a:pt x="431800" y="0"/>
                  </a:moveTo>
                  <a:lnTo>
                    <a:pt x="10490200" y="0"/>
                  </a:lnTo>
                  <a:cubicBezTo>
                    <a:pt x="10728677" y="0"/>
                    <a:pt x="10922000" y="278196"/>
                    <a:pt x="10922000" y="621369"/>
                  </a:cubicBezTo>
                  <a:lnTo>
                    <a:pt x="10922000" y="5592318"/>
                  </a:lnTo>
                  <a:cubicBezTo>
                    <a:pt x="10922000" y="5935490"/>
                    <a:pt x="10728677" y="6213687"/>
                    <a:pt x="10490200" y="6213687"/>
                  </a:cubicBezTo>
                  <a:lnTo>
                    <a:pt x="431800" y="6213687"/>
                  </a:lnTo>
                  <a:cubicBezTo>
                    <a:pt x="193323" y="6213687"/>
                    <a:pt x="0" y="5935490"/>
                    <a:pt x="0" y="5592318"/>
                  </a:cubicBezTo>
                  <a:lnTo>
                    <a:pt x="0" y="621369"/>
                  </a:lnTo>
                  <a:cubicBezTo>
                    <a:pt x="0" y="278196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F0F7FF"/>
            </a:solidFill>
            <a:ln w="19050" cap="sq">
              <a:solidFill>
                <a:srgbClr val="398DFA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0922000" cy="62517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47750" y="2299018"/>
            <a:ext cx="7620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0453B9"/>
                </a:solidFill>
                <a:latin typeface="Poppins Bold"/>
                <a:ea typeface="Poppins Bold"/>
                <a:cs typeface="Poppins Bold"/>
                <a:sym typeface="Poppins Bold"/>
              </a:rPr>
              <a:t>Mục tiêu cụ thể: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7750" y="2825750"/>
            <a:ext cx="7105650" cy="3331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99"/>
              </a:lnSpc>
              <a:spcBef>
                <a:spcPct val="0"/>
              </a:spcBef>
            </a:pPr>
            <a:r>
              <a:rPr lang="en-US" sz="17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✅ Số hóa và theo dõi tiến độ chỉ số thể chất (BMI, Weight Logs).</a:t>
            </a:r>
          </a:p>
          <a:p>
            <a:pPr marL="0" lvl="0" indent="0" algn="l">
              <a:lnSpc>
                <a:spcPts val="2699"/>
              </a:lnSpc>
              <a:spcBef>
                <a:spcPct val="0"/>
              </a:spcBef>
            </a:pPr>
            <a:endParaRPr lang="en-US" sz="1799" u="none" strike="noStrike">
              <a:solidFill>
                <a:srgbClr val="33333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2699"/>
              </a:lnSpc>
              <a:spcBef>
                <a:spcPct val="0"/>
              </a:spcBef>
            </a:pPr>
            <a:r>
              <a:rPr lang="en-US" sz="17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✅ Xây dựng cơ chế rèn luyện đa giai đoạn (Route - Stage) có kiểm duyệt.</a:t>
            </a:r>
          </a:p>
          <a:p>
            <a:pPr marL="0" lvl="0" indent="0" algn="l">
              <a:lnSpc>
                <a:spcPts val="2699"/>
              </a:lnSpc>
              <a:spcBef>
                <a:spcPct val="0"/>
              </a:spcBef>
            </a:pPr>
            <a:endParaRPr lang="en-US" sz="1799" u="none" strike="noStrike">
              <a:solidFill>
                <a:srgbClr val="33333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2699"/>
              </a:lnSpc>
              <a:spcBef>
                <a:spcPct val="0"/>
              </a:spcBef>
            </a:pPr>
            <a:r>
              <a:rPr lang="en-US" sz="17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✅ Tích hợp Trợ lý ảo AI Coach (Gemini 1.5 Flash) tư vấn dinh dưỡng 24/7.</a:t>
            </a:r>
          </a:p>
          <a:p>
            <a:pPr marL="0" lvl="0" indent="0" algn="l">
              <a:lnSpc>
                <a:spcPts val="2699"/>
              </a:lnSpc>
              <a:spcBef>
                <a:spcPct val="0"/>
              </a:spcBef>
            </a:pPr>
            <a:endParaRPr lang="en-US" sz="1799" u="none" strike="noStrike">
              <a:solidFill>
                <a:srgbClr val="33333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2699"/>
              </a:lnSpc>
              <a:spcBef>
                <a:spcPct val="0"/>
              </a:spcBef>
            </a:pPr>
            <a:r>
              <a:rPr lang="en-US" sz="17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✅ Tích hợp cổng thanh toán trực tuyến (VNPay Sandbox).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334500" y="1428750"/>
            <a:ext cx="8191500" cy="476250"/>
            <a:chOff x="0" y="0"/>
            <a:chExt cx="10922000" cy="635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922000" cy="635000"/>
            </a:xfrm>
            <a:custGeom>
              <a:avLst/>
              <a:gdLst/>
              <a:ahLst/>
              <a:cxnLst/>
              <a:rect l="l" t="t" r="r" b="b"/>
              <a:pathLst>
                <a:path w="10922000" h="635000">
                  <a:moveTo>
                    <a:pt x="63500" y="0"/>
                  </a:moveTo>
                  <a:lnTo>
                    <a:pt x="10858500" y="0"/>
                  </a:lnTo>
                  <a:cubicBezTo>
                    <a:pt x="10893570" y="0"/>
                    <a:pt x="10922000" y="28430"/>
                    <a:pt x="10922000" y="63500"/>
                  </a:cubicBezTo>
                  <a:lnTo>
                    <a:pt x="10922000" y="571500"/>
                  </a:lnTo>
                  <a:cubicBezTo>
                    <a:pt x="10922000" y="606570"/>
                    <a:pt x="10893570" y="635000"/>
                    <a:pt x="108585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398DFA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0922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049000" y="1457325"/>
            <a:ext cx="4762500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199" u="none" strike="noStrike">
                <a:solidFill>
                  <a:srgbClr val="FFFFFF"/>
                </a:solidFill>
                <a:latin typeface="Francois One"/>
                <a:ea typeface="Francois One"/>
                <a:cs typeface="Francois One"/>
                <a:sym typeface="Francois One"/>
              </a:rPr>
              <a:t>📋 ĐỐI TƯỢNG &amp; PHẠM VI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334500" y="2095500"/>
            <a:ext cx="8191500" cy="1714500"/>
            <a:chOff x="0" y="0"/>
            <a:chExt cx="10922000" cy="2286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922000" cy="2286000"/>
            </a:xfrm>
            <a:custGeom>
              <a:avLst/>
              <a:gdLst/>
              <a:ahLst/>
              <a:cxnLst/>
              <a:rect l="l" t="t" r="r" b="b"/>
              <a:pathLst>
                <a:path w="10922000" h="2286000">
                  <a:moveTo>
                    <a:pt x="228600" y="0"/>
                  </a:moveTo>
                  <a:lnTo>
                    <a:pt x="10693400" y="0"/>
                  </a:lnTo>
                  <a:cubicBezTo>
                    <a:pt x="10819652" y="0"/>
                    <a:pt x="10922000" y="102348"/>
                    <a:pt x="10922000" y="228600"/>
                  </a:cubicBezTo>
                  <a:lnTo>
                    <a:pt x="10922000" y="2057400"/>
                  </a:lnTo>
                  <a:cubicBezTo>
                    <a:pt x="10922000" y="2183652"/>
                    <a:pt x="10819652" y="2286000"/>
                    <a:pt x="106934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0F7FF"/>
            </a:solidFill>
            <a:ln w="19050" cap="sq">
              <a:solidFill>
                <a:srgbClr val="398DFA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09220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620250" y="2148205"/>
            <a:ext cx="7620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0453B9"/>
                </a:solidFill>
                <a:latin typeface="Poppins Bold"/>
                <a:ea typeface="Poppins Bold"/>
                <a:cs typeface="Poppins Bold"/>
                <a:sym typeface="Poppins Bold"/>
              </a:rPr>
              <a:t>Đối tượng nghiên cứu: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39300" y="2700972"/>
            <a:ext cx="76200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9"/>
              </a:lnSpc>
              <a:spcBef>
                <a:spcPct val="0"/>
              </a:spcBef>
            </a:pPr>
            <a:r>
              <a:rPr lang="en-US" sz="17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Quy trình rèn luyện, dinh dưỡng, dữ liệu sinh học và mô hình AI.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334500" y="4164625"/>
            <a:ext cx="8191500" cy="2573973"/>
            <a:chOff x="0" y="0"/>
            <a:chExt cx="10922000" cy="343196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922000" cy="3431963"/>
            </a:xfrm>
            <a:custGeom>
              <a:avLst/>
              <a:gdLst/>
              <a:ahLst/>
              <a:cxnLst/>
              <a:rect l="l" t="t" r="r" b="b"/>
              <a:pathLst>
                <a:path w="10922000" h="3431963">
                  <a:moveTo>
                    <a:pt x="228600" y="0"/>
                  </a:moveTo>
                  <a:lnTo>
                    <a:pt x="10693400" y="0"/>
                  </a:lnTo>
                  <a:cubicBezTo>
                    <a:pt x="10819652" y="0"/>
                    <a:pt x="10922000" y="153654"/>
                    <a:pt x="10922000" y="343196"/>
                  </a:cubicBezTo>
                  <a:lnTo>
                    <a:pt x="10922000" y="3088767"/>
                  </a:lnTo>
                  <a:cubicBezTo>
                    <a:pt x="10922000" y="3278309"/>
                    <a:pt x="10819652" y="3431963"/>
                    <a:pt x="10693400" y="3431963"/>
                  </a:cubicBezTo>
                  <a:lnTo>
                    <a:pt x="228600" y="3431963"/>
                  </a:lnTo>
                  <a:cubicBezTo>
                    <a:pt x="102348" y="3431963"/>
                    <a:pt x="0" y="3278309"/>
                    <a:pt x="0" y="3088767"/>
                  </a:cubicBezTo>
                  <a:lnTo>
                    <a:pt x="0" y="343196"/>
                  </a:lnTo>
                  <a:cubicBezTo>
                    <a:pt x="0" y="153654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0F7FF"/>
            </a:solidFill>
            <a:ln w="19050" cap="sq">
              <a:solidFill>
                <a:srgbClr val="398DFA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0922000" cy="347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639300" y="4390072"/>
            <a:ext cx="7620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0453B9"/>
                </a:solidFill>
                <a:latin typeface="Poppins Bold"/>
                <a:ea typeface="Poppins Bold"/>
                <a:cs typeface="Poppins Bold"/>
                <a:sym typeface="Poppins Bold"/>
              </a:rPr>
              <a:t>Phạm vi: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639300" y="4789170"/>
            <a:ext cx="7620000" cy="1804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17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Phân quyền hệ thống 3 tác nhân:</a:t>
            </a:r>
          </a:p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endParaRPr lang="en-US" sz="1799" u="none" strike="noStrike">
              <a:solidFill>
                <a:srgbClr val="33333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17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👤 Học viên (Member)</a:t>
            </a:r>
          </a:p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17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🏋️ Huấn luyện viên (Coach)</a:t>
            </a:r>
          </a:p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17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🔧 Quản trị viên (Admin)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1049000" y="5852302"/>
            <a:ext cx="6811997" cy="6811997"/>
            <a:chOff x="0" y="0"/>
            <a:chExt cx="1524000" cy="1524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762000" y="0"/>
                  </a:moveTo>
                  <a:cubicBezTo>
                    <a:pt x="341159" y="0"/>
                    <a:pt x="0" y="341159"/>
                    <a:pt x="0" y="762000"/>
                  </a:cubicBezTo>
                  <a:cubicBezTo>
                    <a:pt x="0" y="1182841"/>
                    <a:pt x="341159" y="1524000"/>
                    <a:pt x="762000" y="1524000"/>
                  </a:cubicBezTo>
                  <a:cubicBezTo>
                    <a:pt x="1182841" y="1524000"/>
                    <a:pt x="1524000" y="1182841"/>
                    <a:pt x="1524000" y="762000"/>
                  </a:cubicBezTo>
                  <a:cubicBezTo>
                    <a:pt x="1524000" y="341159"/>
                    <a:pt x="1182841" y="0"/>
                    <a:pt x="762000" y="0"/>
                  </a:cubicBezTo>
                  <a:close/>
                </a:path>
              </a:pathLst>
            </a:custGeom>
            <a:solidFill>
              <a:srgbClr val="0453B9">
                <a:alpha val="29804"/>
              </a:srgbClr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524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667750" y="7658100"/>
            <a:ext cx="2952750" cy="2914650"/>
            <a:chOff x="0" y="0"/>
            <a:chExt cx="762000" cy="75216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62000" cy="752168"/>
            </a:xfrm>
            <a:custGeom>
              <a:avLst/>
              <a:gdLst/>
              <a:ahLst/>
              <a:cxnLst/>
              <a:rect l="l" t="t" r="r" b="b"/>
              <a:pathLst>
                <a:path w="762000" h="752168">
                  <a:moveTo>
                    <a:pt x="381000" y="0"/>
                  </a:moveTo>
                  <a:cubicBezTo>
                    <a:pt x="170580" y="0"/>
                    <a:pt x="0" y="168378"/>
                    <a:pt x="0" y="376084"/>
                  </a:cubicBezTo>
                  <a:cubicBezTo>
                    <a:pt x="0" y="583789"/>
                    <a:pt x="170580" y="752168"/>
                    <a:pt x="381000" y="752168"/>
                  </a:cubicBezTo>
                  <a:cubicBezTo>
                    <a:pt x="591420" y="752168"/>
                    <a:pt x="762000" y="583789"/>
                    <a:pt x="762000" y="376084"/>
                  </a:cubicBezTo>
                  <a:cubicBezTo>
                    <a:pt x="762000" y="168378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398DFA">
                <a:alpha val="40000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762000" cy="7902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0" y="9810750"/>
            <a:ext cx="18288000" cy="476250"/>
            <a:chOff x="0" y="0"/>
            <a:chExt cx="24384000" cy="6350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4384000" cy="635000"/>
            </a:xfrm>
            <a:custGeom>
              <a:avLst/>
              <a:gdLst/>
              <a:ahLst/>
              <a:cxnLst/>
              <a:rect l="l" t="t" r="r" b="b"/>
              <a:pathLst>
                <a:path w="24384000" h="6350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0"/>
                  </a:lnTo>
                  <a:lnTo>
                    <a:pt x="0" y="635000"/>
                  </a:ln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98DF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24384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0" y="-2228850"/>
            <a:ext cx="8096250" cy="8096250"/>
            <a:chOff x="0" y="0"/>
            <a:chExt cx="1524000" cy="152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762000" y="0"/>
                  </a:moveTo>
                  <a:cubicBezTo>
                    <a:pt x="341159" y="0"/>
                    <a:pt x="0" y="341159"/>
                    <a:pt x="0" y="762000"/>
                  </a:cubicBezTo>
                  <a:cubicBezTo>
                    <a:pt x="0" y="1182841"/>
                    <a:pt x="341159" y="1524000"/>
                    <a:pt x="762000" y="1524000"/>
                  </a:cubicBezTo>
                  <a:cubicBezTo>
                    <a:pt x="1182841" y="1524000"/>
                    <a:pt x="1524000" y="1182841"/>
                    <a:pt x="1524000" y="762000"/>
                  </a:cubicBezTo>
                  <a:cubicBezTo>
                    <a:pt x="1524000" y="341159"/>
                    <a:pt x="1182841" y="0"/>
                    <a:pt x="762000" y="0"/>
                  </a:cubicBezTo>
                  <a:close/>
                </a:path>
              </a:pathLst>
            </a:custGeom>
            <a:solidFill>
              <a:srgbClr val="0453B9">
                <a:alpha val="2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24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98DF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591901" y="509769"/>
            <a:ext cx="817699" cy="817699"/>
            <a:chOff x="0" y="0"/>
            <a:chExt cx="762000" cy="762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398DFA">
                <a:alpha val="4000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476500" y="466725"/>
            <a:ext cx="13335000" cy="721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22"/>
              </a:lnSpc>
              <a:spcBef>
                <a:spcPct val="0"/>
              </a:spcBef>
            </a:pPr>
            <a:r>
              <a:rPr lang="en-US" sz="4230" u="none" strike="noStrike">
                <a:solidFill>
                  <a:srgbClr val="0453B9"/>
                </a:solidFill>
                <a:latin typeface="Francois One"/>
                <a:ea typeface="Francois One"/>
                <a:cs typeface="Francois One"/>
                <a:sym typeface="Francois One"/>
              </a:rPr>
              <a:t>PHƯƠNG PHÁP THỰC HIỆN - KIẾN TRÚC &amp; CÔNG NGHỆ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34000" y="1162050"/>
            <a:ext cx="76200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398DFA"/>
                </a:solidFill>
                <a:latin typeface="Poppins"/>
                <a:ea typeface="Poppins"/>
                <a:cs typeface="Poppins"/>
                <a:sym typeface="Poppins"/>
              </a:rPr>
              <a:t>Kiến trúc 3 lớp phân tách (Decoupled Architecture)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-1684627" y="2187892"/>
            <a:ext cx="8542627" cy="8542627"/>
            <a:chOff x="0" y="0"/>
            <a:chExt cx="762000" cy="762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398DFA">
                <a:alpha val="4000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7750" y="1809750"/>
            <a:ext cx="5143500" cy="3048000"/>
            <a:chOff x="0" y="0"/>
            <a:chExt cx="6858000" cy="4064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858000" cy="4064000"/>
            </a:xfrm>
            <a:custGeom>
              <a:avLst/>
              <a:gdLst/>
              <a:ahLst/>
              <a:cxnLst/>
              <a:rect l="l" t="t" r="r" b="b"/>
              <a:pathLst>
                <a:path w="6858000" h="4064000">
                  <a:moveTo>
                    <a:pt x="406400" y="0"/>
                  </a:moveTo>
                  <a:lnTo>
                    <a:pt x="6451600" y="0"/>
                  </a:lnTo>
                  <a:cubicBezTo>
                    <a:pt x="6676048" y="0"/>
                    <a:pt x="6858000" y="181951"/>
                    <a:pt x="6858000" y="406400"/>
                  </a:cubicBezTo>
                  <a:lnTo>
                    <a:pt x="6858000" y="3657600"/>
                  </a:lnTo>
                  <a:cubicBezTo>
                    <a:pt x="6858000" y="3882049"/>
                    <a:pt x="6676048" y="4064000"/>
                    <a:pt x="6451600" y="4064000"/>
                  </a:cubicBezTo>
                  <a:lnTo>
                    <a:pt x="406400" y="4064000"/>
                  </a:lnTo>
                  <a:cubicBezTo>
                    <a:pt x="181951" y="4064000"/>
                    <a:pt x="0" y="3882049"/>
                    <a:pt x="0" y="36576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E8F4FD"/>
            </a:solidFill>
            <a:ln w="19050" cap="sq">
              <a:solidFill>
                <a:srgbClr val="398DFA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858000" cy="410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333750" y="1809750"/>
            <a:ext cx="571500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  <a:spcBef>
                <a:spcPct val="0"/>
              </a:spcBef>
            </a:pPr>
            <a:r>
              <a:rPr lang="en-US" sz="3600" u="none" strike="noStrike">
                <a:solidFill>
                  <a:srgbClr val="0453B9"/>
                </a:solidFill>
                <a:latin typeface="Poppins"/>
                <a:ea typeface="Poppins"/>
                <a:cs typeface="Poppins"/>
                <a:sym typeface="Poppins"/>
              </a:rPr>
              <a:t>🖥️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8250" y="2395855"/>
            <a:ext cx="47625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0453B9"/>
                </a:solidFill>
                <a:latin typeface="Francois One"/>
                <a:ea typeface="Francois One"/>
                <a:cs typeface="Francois One"/>
                <a:sym typeface="Francois One"/>
              </a:rPr>
              <a:t>Frontend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38250" y="2823527"/>
            <a:ext cx="476250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r>
              <a:rPr lang="en-US" sz="2099" b="1" u="none" strike="noStrike">
                <a:solidFill>
                  <a:srgbClr val="398DFA"/>
                </a:solidFill>
                <a:latin typeface="Poppins Bold"/>
                <a:ea typeface="Poppins Bold"/>
                <a:cs typeface="Poppins Bold"/>
                <a:sym typeface="Poppins Bold"/>
              </a:rPr>
              <a:t>Next.js 16+, TypeScript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33500" y="3418522"/>
            <a:ext cx="4572000" cy="899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9"/>
              </a:lnSpc>
              <a:spcBef>
                <a:spcPct val="0"/>
              </a:spcBef>
            </a:pPr>
            <a:r>
              <a:rPr lang="en-US" sz="16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Server-Side Rendering (SSR)</a:t>
            </a:r>
          </a:p>
          <a:p>
            <a:pPr marL="0" lvl="0" indent="0" algn="ctr">
              <a:lnSpc>
                <a:spcPts val="2379"/>
              </a:lnSpc>
              <a:spcBef>
                <a:spcPct val="0"/>
              </a:spcBef>
            </a:pPr>
            <a:r>
              <a:rPr lang="en-US" sz="16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tối ưu hiệu năng hiển thị</a:t>
            </a:r>
          </a:p>
          <a:p>
            <a:pPr marL="0" lvl="0" indent="0" algn="ctr">
              <a:lnSpc>
                <a:spcPts val="2379"/>
              </a:lnSpc>
              <a:spcBef>
                <a:spcPct val="0"/>
              </a:spcBef>
            </a:pPr>
            <a:r>
              <a:rPr lang="en-US" sz="16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thời gian thực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572250" y="1809750"/>
            <a:ext cx="5143500" cy="3048000"/>
            <a:chOff x="0" y="0"/>
            <a:chExt cx="6858000" cy="4064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858000" cy="4064000"/>
            </a:xfrm>
            <a:custGeom>
              <a:avLst/>
              <a:gdLst/>
              <a:ahLst/>
              <a:cxnLst/>
              <a:rect l="l" t="t" r="r" b="b"/>
              <a:pathLst>
                <a:path w="6858000" h="4064000">
                  <a:moveTo>
                    <a:pt x="406400" y="0"/>
                  </a:moveTo>
                  <a:lnTo>
                    <a:pt x="6451600" y="0"/>
                  </a:lnTo>
                  <a:cubicBezTo>
                    <a:pt x="6676048" y="0"/>
                    <a:pt x="6858000" y="181951"/>
                    <a:pt x="6858000" y="406400"/>
                  </a:cubicBezTo>
                  <a:lnTo>
                    <a:pt x="6858000" y="3657600"/>
                  </a:lnTo>
                  <a:cubicBezTo>
                    <a:pt x="6858000" y="3882049"/>
                    <a:pt x="6676048" y="4064000"/>
                    <a:pt x="6451600" y="4064000"/>
                  </a:cubicBezTo>
                  <a:lnTo>
                    <a:pt x="406400" y="4064000"/>
                  </a:lnTo>
                  <a:cubicBezTo>
                    <a:pt x="181951" y="4064000"/>
                    <a:pt x="0" y="3882049"/>
                    <a:pt x="0" y="36576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E8F0FF"/>
            </a:solidFill>
            <a:ln w="19050" cap="sq">
              <a:solidFill>
                <a:srgbClr val="398DFA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6858000" cy="410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8858250" y="1809750"/>
            <a:ext cx="571500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  <a:spcBef>
                <a:spcPct val="0"/>
              </a:spcBef>
            </a:pPr>
            <a:r>
              <a:rPr lang="en-US" sz="3600" u="none" strike="noStrike">
                <a:solidFill>
                  <a:srgbClr val="0453B9"/>
                </a:solidFill>
                <a:latin typeface="Poppins"/>
                <a:ea typeface="Poppins"/>
                <a:cs typeface="Poppins"/>
                <a:sym typeface="Poppins"/>
              </a:rPr>
              <a:t>⚙️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762750" y="2395855"/>
            <a:ext cx="47625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0453B9"/>
                </a:solidFill>
                <a:latin typeface="Francois One"/>
                <a:ea typeface="Francois One"/>
                <a:cs typeface="Francois One"/>
                <a:sym typeface="Francois One"/>
              </a:rPr>
              <a:t>Backend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62750" y="2823527"/>
            <a:ext cx="476250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r>
              <a:rPr lang="en-US" sz="2099" b="1" u="none" strike="noStrike">
                <a:solidFill>
                  <a:srgbClr val="398DFA"/>
                </a:solidFill>
                <a:latin typeface="Poppins Bold"/>
                <a:ea typeface="Poppins Bold"/>
                <a:cs typeface="Poppins Bold"/>
                <a:sym typeface="Poppins Bold"/>
              </a:rPr>
              <a:t>Node.js, Express.js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858000" y="3418522"/>
            <a:ext cx="4572000" cy="899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9"/>
              </a:lnSpc>
              <a:spcBef>
                <a:spcPct val="0"/>
              </a:spcBef>
            </a:pPr>
            <a:r>
              <a:rPr lang="en-US" sz="16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RESTful API Server</a:t>
            </a:r>
          </a:p>
          <a:p>
            <a:pPr marL="0" lvl="0" indent="0" algn="ctr">
              <a:lnSpc>
                <a:spcPts val="2379"/>
              </a:lnSpc>
              <a:spcBef>
                <a:spcPct val="0"/>
              </a:spcBef>
            </a:pPr>
            <a:r>
              <a:rPr lang="en-US" sz="16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xử lý nghiệp vụ,</a:t>
            </a:r>
          </a:p>
          <a:p>
            <a:pPr marL="0" lvl="0" indent="0" algn="ctr">
              <a:lnSpc>
                <a:spcPts val="2379"/>
              </a:lnSpc>
              <a:spcBef>
                <a:spcPct val="0"/>
              </a:spcBef>
            </a:pPr>
            <a:r>
              <a:rPr lang="en-US" sz="16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xác thực JWT bảo mật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2096750" y="1809750"/>
            <a:ext cx="5143500" cy="3048000"/>
            <a:chOff x="0" y="0"/>
            <a:chExt cx="6858000" cy="4064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858000" cy="4064000"/>
            </a:xfrm>
            <a:custGeom>
              <a:avLst/>
              <a:gdLst/>
              <a:ahLst/>
              <a:cxnLst/>
              <a:rect l="l" t="t" r="r" b="b"/>
              <a:pathLst>
                <a:path w="6858000" h="4064000">
                  <a:moveTo>
                    <a:pt x="406400" y="0"/>
                  </a:moveTo>
                  <a:lnTo>
                    <a:pt x="6451600" y="0"/>
                  </a:lnTo>
                  <a:cubicBezTo>
                    <a:pt x="6676048" y="0"/>
                    <a:pt x="6858000" y="181951"/>
                    <a:pt x="6858000" y="406400"/>
                  </a:cubicBezTo>
                  <a:lnTo>
                    <a:pt x="6858000" y="3657600"/>
                  </a:lnTo>
                  <a:cubicBezTo>
                    <a:pt x="6858000" y="3882049"/>
                    <a:pt x="6676048" y="4064000"/>
                    <a:pt x="6451600" y="4064000"/>
                  </a:cubicBezTo>
                  <a:lnTo>
                    <a:pt x="406400" y="4064000"/>
                  </a:lnTo>
                  <a:cubicBezTo>
                    <a:pt x="181951" y="4064000"/>
                    <a:pt x="0" y="3882049"/>
                    <a:pt x="0" y="36576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0F0FF"/>
            </a:solidFill>
            <a:ln w="19050" cap="sq">
              <a:solidFill>
                <a:srgbClr val="398DFA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6858000" cy="410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4382750" y="1809750"/>
            <a:ext cx="571500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  <a:spcBef>
                <a:spcPct val="0"/>
              </a:spcBef>
            </a:pPr>
            <a:r>
              <a:rPr lang="en-US" sz="3600" u="none" strike="noStrike">
                <a:solidFill>
                  <a:srgbClr val="0453B9"/>
                </a:solidFill>
                <a:latin typeface="Poppins"/>
                <a:ea typeface="Poppins"/>
                <a:cs typeface="Poppins"/>
                <a:sym typeface="Poppins"/>
              </a:rPr>
              <a:t>🗄️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287250" y="2395855"/>
            <a:ext cx="47625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0453B9"/>
                </a:solidFill>
                <a:latin typeface="Francois One"/>
                <a:ea typeface="Francois One"/>
                <a:cs typeface="Francois One"/>
                <a:sym typeface="Francois One"/>
              </a:rPr>
              <a:t>Database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287250" y="2823527"/>
            <a:ext cx="476250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r>
              <a:rPr lang="en-US" sz="2099" b="1" u="none" strike="noStrike">
                <a:solidFill>
                  <a:srgbClr val="398DFA"/>
                </a:solidFill>
                <a:latin typeface="Poppins Bold"/>
                <a:ea typeface="Poppins Bold"/>
                <a:cs typeface="Poppins Bold"/>
                <a:sym typeface="Poppins Bold"/>
              </a:rPr>
              <a:t>MySQL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382500" y="3418522"/>
            <a:ext cx="4572000" cy="899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9"/>
              </a:lnSpc>
              <a:spcBef>
                <a:spcPct val="0"/>
              </a:spcBef>
            </a:pPr>
            <a:r>
              <a:rPr lang="en-US" sz="16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Thiết kế chuẩn hóa 3NF,</a:t>
            </a:r>
          </a:p>
          <a:p>
            <a:pPr marL="0" lvl="0" indent="0" algn="ctr">
              <a:lnSpc>
                <a:spcPts val="2379"/>
              </a:lnSpc>
              <a:spcBef>
                <a:spcPct val="0"/>
              </a:spcBef>
            </a:pPr>
            <a:r>
              <a:rPr lang="en-US" sz="16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bảo toàn nghiêm ngặt</a:t>
            </a:r>
          </a:p>
          <a:p>
            <a:pPr marL="0" lvl="0" indent="0" algn="ctr">
              <a:lnSpc>
                <a:spcPts val="2379"/>
              </a:lnSpc>
              <a:spcBef>
                <a:spcPct val="0"/>
              </a:spcBef>
            </a:pPr>
            <a:r>
              <a:rPr lang="en-US" sz="16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tính chất ACID</a:t>
            </a:r>
          </a:p>
        </p:txBody>
      </p:sp>
      <p:sp>
        <p:nvSpPr>
          <p:cNvPr id="37" name="AutoShape 37"/>
          <p:cNvSpPr/>
          <p:nvPr/>
        </p:nvSpPr>
        <p:spPr>
          <a:xfrm>
            <a:off x="6191250" y="3333750"/>
            <a:ext cx="381000" cy="0"/>
          </a:xfrm>
          <a:prstGeom prst="line">
            <a:avLst/>
          </a:prstGeom>
          <a:ln w="28575" cap="flat">
            <a:solidFill>
              <a:srgbClr val="398DFA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8" name="AutoShape 38"/>
          <p:cNvSpPr/>
          <p:nvPr/>
        </p:nvSpPr>
        <p:spPr>
          <a:xfrm>
            <a:off x="11715750" y="3333750"/>
            <a:ext cx="381000" cy="0"/>
          </a:xfrm>
          <a:prstGeom prst="line">
            <a:avLst/>
          </a:prstGeom>
          <a:ln w="28575" cap="flat">
            <a:solidFill>
              <a:srgbClr val="398DFA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9" name="TextBox 39"/>
          <p:cNvSpPr txBox="1"/>
          <p:nvPr/>
        </p:nvSpPr>
        <p:spPr>
          <a:xfrm>
            <a:off x="6286500" y="5124450"/>
            <a:ext cx="5715000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199" u="none" strike="noStrike">
                <a:solidFill>
                  <a:srgbClr val="0453B9"/>
                </a:solidFill>
                <a:latin typeface="Francois One"/>
                <a:ea typeface="Francois One"/>
                <a:cs typeface="Francois One"/>
                <a:sym typeface="Francois One"/>
              </a:rPr>
              <a:t>⚡ Công nghệ tích hợp đột phá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524000" y="5715000"/>
            <a:ext cx="7429500" cy="1905000"/>
            <a:chOff x="0" y="0"/>
            <a:chExt cx="9906000" cy="25400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906000" cy="2540000"/>
            </a:xfrm>
            <a:custGeom>
              <a:avLst/>
              <a:gdLst/>
              <a:ahLst/>
              <a:cxnLst/>
              <a:rect l="l" t="t" r="r" b="b"/>
              <a:pathLst>
                <a:path w="9906000" h="2540000">
                  <a:moveTo>
                    <a:pt x="254000" y="0"/>
                  </a:moveTo>
                  <a:lnTo>
                    <a:pt x="9652000" y="0"/>
                  </a:lnTo>
                  <a:cubicBezTo>
                    <a:pt x="9792281" y="0"/>
                    <a:pt x="9906000" y="113720"/>
                    <a:pt x="9906000" y="254000"/>
                  </a:cubicBezTo>
                  <a:lnTo>
                    <a:pt x="9906000" y="2286000"/>
                  </a:lnTo>
                  <a:cubicBezTo>
                    <a:pt x="9906000" y="2426280"/>
                    <a:pt x="9792281" y="2540000"/>
                    <a:pt x="9652000" y="2540000"/>
                  </a:cubicBezTo>
                  <a:lnTo>
                    <a:pt x="254000" y="2540000"/>
                  </a:lnTo>
                  <a:cubicBezTo>
                    <a:pt x="113720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98DF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9906000" cy="257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4953000" y="5762625"/>
            <a:ext cx="571500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  <a:spcBef>
                <a:spcPct val="0"/>
              </a:spcBef>
            </a:pPr>
            <a:r>
              <a:rPr lang="en-US" sz="36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🤖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714500" y="6372225"/>
            <a:ext cx="70485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Google Gemini 1.5 Flash API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809750" y="6757035"/>
            <a:ext cx="6858000" cy="604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9"/>
              </a:lnSpc>
              <a:spcBef>
                <a:spcPct val="0"/>
              </a:spcBef>
            </a:pPr>
            <a:r>
              <a:rPr lang="en-US" sz="1699" u="none" strike="noStrike">
                <a:solidFill>
                  <a:srgbClr val="E0E8FF"/>
                </a:solidFill>
                <a:latin typeface="Poppins"/>
                <a:ea typeface="Poppins"/>
                <a:cs typeface="Poppins"/>
                <a:sym typeface="Poppins"/>
              </a:rPr>
              <a:t>Tư vấn dinh dưỡng cá nhân hóa sâu</a:t>
            </a:r>
          </a:p>
          <a:p>
            <a:pPr marL="0" lvl="0" indent="0" algn="ctr">
              <a:lnSpc>
                <a:spcPts val="2379"/>
              </a:lnSpc>
              <a:spcBef>
                <a:spcPct val="0"/>
              </a:spcBef>
            </a:pPr>
            <a:r>
              <a:rPr lang="en-US" sz="1699" u="none" strike="noStrike">
                <a:solidFill>
                  <a:srgbClr val="E0E8FF"/>
                </a:solidFill>
                <a:latin typeface="Poppins"/>
                <a:ea typeface="Poppins"/>
                <a:cs typeface="Poppins"/>
                <a:sym typeface="Poppins"/>
              </a:rPr>
              <a:t>qua Prompt Engineering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9334500" y="5715000"/>
            <a:ext cx="7429500" cy="1905000"/>
            <a:chOff x="0" y="0"/>
            <a:chExt cx="9906000" cy="25400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906000" cy="2540000"/>
            </a:xfrm>
            <a:custGeom>
              <a:avLst/>
              <a:gdLst/>
              <a:ahLst/>
              <a:cxnLst/>
              <a:rect l="l" t="t" r="r" b="b"/>
              <a:pathLst>
                <a:path w="9906000" h="2540000">
                  <a:moveTo>
                    <a:pt x="254000" y="0"/>
                  </a:moveTo>
                  <a:lnTo>
                    <a:pt x="9652000" y="0"/>
                  </a:lnTo>
                  <a:cubicBezTo>
                    <a:pt x="9792281" y="0"/>
                    <a:pt x="9906000" y="113720"/>
                    <a:pt x="9906000" y="254000"/>
                  </a:cubicBezTo>
                  <a:lnTo>
                    <a:pt x="9906000" y="2286000"/>
                  </a:lnTo>
                  <a:cubicBezTo>
                    <a:pt x="9906000" y="2426280"/>
                    <a:pt x="9792281" y="2540000"/>
                    <a:pt x="9652000" y="2540000"/>
                  </a:cubicBezTo>
                  <a:lnTo>
                    <a:pt x="254000" y="2540000"/>
                  </a:lnTo>
                  <a:cubicBezTo>
                    <a:pt x="113720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98DF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9906000" cy="257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2763500" y="5762625"/>
            <a:ext cx="571500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  <a:spcBef>
                <a:spcPct val="0"/>
              </a:spcBef>
            </a:pPr>
            <a:r>
              <a:rPr lang="en-US" sz="36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💳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525000" y="6372225"/>
            <a:ext cx="70485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VNPay Sandbox SDK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620250" y="6904672"/>
            <a:ext cx="6858000" cy="30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9"/>
              </a:lnSpc>
              <a:spcBef>
                <a:spcPct val="0"/>
              </a:spcBef>
            </a:pPr>
            <a:r>
              <a:rPr lang="en-US" sz="1699" u="none" strike="noStrike">
                <a:solidFill>
                  <a:srgbClr val="E0E8FF"/>
                </a:solidFill>
                <a:latin typeface="Poppins"/>
                <a:ea typeface="Poppins"/>
                <a:cs typeface="Poppins"/>
                <a:sym typeface="Poppins"/>
              </a:rPr>
              <a:t>Xử lý thanh toán trực tuyến,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0" y="9810750"/>
            <a:ext cx="18288000" cy="476250"/>
            <a:chOff x="0" y="0"/>
            <a:chExt cx="24384000" cy="6350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4384000" cy="635000"/>
            </a:xfrm>
            <a:custGeom>
              <a:avLst/>
              <a:gdLst/>
              <a:ahLst/>
              <a:cxnLst/>
              <a:rect l="l" t="t" r="r" b="b"/>
              <a:pathLst>
                <a:path w="24384000" h="6350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0"/>
                  </a:lnTo>
                  <a:lnTo>
                    <a:pt x="0" y="635000"/>
                  </a:ln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98DF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24384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0112010" y="8172128"/>
            <a:ext cx="817699" cy="817699"/>
            <a:chOff x="0" y="0"/>
            <a:chExt cx="762000" cy="7620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398DFA">
                <a:alpha val="40000"/>
              </a:srgbClr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3793248" y="7953375"/>
            <a:ext cx="875252" cy="875252"/>
            <a:chOff x="0" y="0"/>
            <a:chExt cx="762000" cy="7620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398DFA">
                <a:alpha val="40000"/>
              </a:srgbClr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</p:spTree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572500" y="1409700"/>
            <a:ext cx="1143000" cy="0"/>
          </a:xfrm>
          <a:prstGeom prst="line">
            <a:avLst/>
          </a:prstGeom>
          <a:ln w="28575" cap="flat">
            <a:solidFill>
              <a:srgbClr val="398D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7239000" y="5467350"/>
            <a:ext cx="38100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Chèn ảnh tại đây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667750" y="4581525"/>
            <a:ext cx="952500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 u="none" strike="noStrike">
                <a:solidFill>
                  <a:srgbClr val="398DFA"/>
                </a:solidFill>
                <a:latin typeface="Poppins"/>
                <a:ea typeface="Poppins"/>
                <a:cs typeface="Poppins"/>
                <a:sym typeface="Poppins"/>
              </a:rPr>
              <a:t>🖼️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34000" y="1019175"/>
            <a:ext cx="76200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398DFA"/>
                </a:solidFill>
                <a:latin typeface="Poppins"/>
                <a:ea typeface="Poppins"/>
                <a:cs typeface="Poppins"/>
                <a:sym typeface="Poppins"/>
              </a:rPr>
              <a:t>Biểu đồ Use Case tổng quan hệ thống FitVibe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6192500" y="8572500"/>
            <a:ext cx="666750" cy="666750"/>
            <a:chOff x="0" y="0"/>
            <a:chExt cx="889000" cy="889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9000" cy="889000"/>
            </a:xfrm>
            <a:custGeom>
              <a:avLst/>
              <a:gdLst/>
              <a:ahLst/>
              <a:cxnLst/>
              <a:rect l="l" t="t" r="r" b="b"/>
              <a:pathLst>
                <a:path w="889000" h="889000">
                  <a:moveTo>
                    <a:pt x="444500" y="0"/>
                  </a:moveTo>
                  <a:cubicBezTo>
                    <a:pt x="199009" y="0"/>
                    <a:pt x="0" y="199009"/>
                    <a:pt x="0" y="444500"/>
                  </a:cubicBezTo>
                  <a:cubicBezTo>
                    <a:pt x="0" y="689991"/>
                    <a:pt x="199009" y="889000"/>
                    <a:pt x="444500" y="889000"/>
                  </a:cubicBezTo>
                  <a:cubicBezTo>
                    <a:pt x="689991" y="889000"/>
                    <a:pt x="889000" y="689991"/>
                    <a:pt x="889000" y="444500"/>
                  </a:cubicBezTo>
                  <a:cubicBezTo>
                    <a:pt x="889000" y="199009"/>
                    <a:pt x="689991" y="0"/>
                    <a:pt x="444500" y="0"/>
                  </a:cubicBezTo>
                  <a:close/>
                </a:path>
              </a:pathLst>
            </a:custGeom>
            <a:solidFill>
              <a:srgbClr val="398DFA">
                <a:alpha val="4000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8501062"/>
            <a:ext cx="876300" cy="876300"/>
            <a:chOff x="0" y="0"/>
            <a:chExt cx="1168400" cy="1168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68400" cy="1168400"/>
            </a:xfrm>
            <a:custGeom>
              <a:avLst/>
              <a:gdLst/>
              <a:ahLst/>
              <a:cxnLst/>
              <a:rect l="l" t="t" r="r" b="b"/>
              <a:pathLst>
                <a:path w="1168400" h="1168400">
                  <a:moveTo>
                    <a:pt x="584200" y="0"/>
                  </a:moveTo>
                  <a:cubicBezTo>
                    <a:pt x="261555" y="0"/>
                    <a:pt x="0" y="261555"/>
                    <a:pt x="0" y="584200"/>
                  </a:cubicBezTo>
                  <a:cubicBezTo>
                    <a:pt x="0" y="906845"/>
                    <a:pt x="261555" y="1168400"/>
                    <a:pt x="584200" y="1168400"/>
                  </a:cubicBezTo>
                  <a:cubicBezTo>
                    <a:pt x="906845" y="1168400"/>
                    <a:pt x="1168400" y="906845"/>
                    <a:pt x="1168400" y="584200"/>
                  </a:cubicBezTo>
                  <a:cubicBezTo>
                    <a:pt x="1168400" y="261555"/>
                    <a:pt x="906845" y="0"/>
                    <a:pt x="584200" y="0"/>
                  </a:cubicBezTo>
                  <a:close/>
                </a:path>
              </a:pathLst>
            </a:custGeom>
            <a:solidFill>
              <a:srgbClr val="398DFA">
                <a:alpha val="4000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68400" cy="120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591175" y="514350"/>
            <a:ext cx="819150" cy="819150"/>
            <a:chOff x="0" y="0"/>
            <a:chExt cx="1092200" cy="1092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2200" cy="1092200"/>
            </a:xfrm>
            <a:custGeom>
              <a:avLst/>
              <a:gdLst/>
              <a:ahLst/>
              <a:cxnLst/>
              <a:rect l="l" t="t" r="r" b="b"/>
              <a:pathLst>
                <a:path w="1092200" h="1092200">
                  <a:moveTo>
                    <a:pt x="546100" y="0"/>
                  </a:moveTo>
                  <a:cubicBezTo>
                    <a:pt x="244497" y="0"/>
                    <a:pt x="0" y="244497"/>
                    <a:pt x="0" y="546100"/>
                  </a:cubicBezTo>
                  <a:cubicBezTo>
                    <a:pt x="0" y="847703"/>
                    <a:pt x="244497" y="1092200"/>
                    <a:pt x="546100" y="1092200"/>
                  </a:cubicBezTo>
                  <a:cubicBezTo>
                    <a:pt x="847703" y="1092200"/>
                    <a:pt x="1092200" y="847703"/>
                    <a:pt x="1092200" y="546100"/>
                  </a:cubicBezTo>
                  <a:cubicBezTo>
                    <a:pt x="1092200" y="244497"/>
                    <a:pt x="847703" y="0"/>
                    <a:pt x="546100" y="0"/>
                  </a:cubicBezTo>
                  <a:close/>
                </a:path>
              </a:pathLst>
            </a:custGeom>
            <a:solidFill>
              <a:srgbClr val="398DFA">
                <a:alpha val="4000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092200" cy="1130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430000" y="-2228850"/>
            <a:ext cx="8105775" cy="8105775"/>
            <a:chOff x="0" y="0"/>
            <a:chExt cx="10807700" cy="108077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807700" cy="10807700"/>
            </a:xfrm>
            <a:custGeom>
              <a:avLst/>
              <a:gdLst/>
              <a:ahLst/>
              <a:cxnLst/>
              <a:rect l="l" t="t" r="r" b="b"/>
              <a:pathLst>
                <a:path w="10807700" h="10807700">
                  <a:moveTo>
                    <a:pt x="5403850" y="0"/>
                  </a:moveTo>
                  <a:cubicBezTo>
                    <a:pt x="2419386" y="0"/>
                    <a:pt x="0" y="2419386"/>
                    <a:pt x="0" y="5403850"/>
                  </a:cubicBezTo>
                  <a:cubicBezTo>
                    <a:pt x="0" y="8388314"/>
                    <a:pt x="2419386" y="10807700"/>
                    <a:pt x="5403850" y="10807700"/>
                  </a:cubicBezTo>
                  <a:cubicBezTo>
                    <a:pt x="8388314" y="10807700"/>
                    <a:pt x="10807700" y="8388314"/>
                    <a:pt x="10807700" y="5403850"/>
                  </a:cubicBezTo>
                  <a:cubicBezTo>
                    <a:pt x="10807700" y="2419386"/>
                    <a:pt x="8388314" y="0"/>
                    <a:pt x="5403850" y="0"/>
                  </a:cubicBezTo>
                  <a:close/>
                </a:path>
              </a:pathLst>
            </a:custGeom>
            <a:solidFill>
              <a:srgbClr val="0453B9">
                <a:alpha val="29804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0807700" cy="10845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0" y="9810750"/>
            <a:ext cx="18288000" cy="476250"/>
            <a:chOff x="0" y="0"/>
            <a:chExt cx="24384000" cy="635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4000" cy="635000"/>
            </a:xfrm>
            <a:custGeom>
              <a:avLst/>
              <a:gdLst/>
              <a:ahLst/>
              <a:cxnLst/>
              <a:rect l="l" t="t" r="r" b="b"/>
              <a:pathLst>
                <a:path w="24384000" h="6350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0"/>
                  </a:lnTo>
                  <a:lnTo>
                    <a:pt x="0" y="635000"/>
                  </a:ln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98DF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4384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98DF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21191" y="1795462"/>
            <a:ext cx="16657184" cy="7143750"/>
            <a:chOff x="0" y="0"/>
            <a:chExt cx="22209579" cy="9525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209579" cy="9525000"/>
            </a:xfrm>
            <a:custGeom>
              <a:avLst/>
              <a:gdLst/>
              <a:ahLst/>
              <a:cxnLst/>
              <a:rect l="l" t="t" r="r" b="b"/>
              <a:pathLst>
                <a:path w="22209579" h="9525000">
                  <a:moveTo>
                    <a:pt x="1110479" y="0"/>
                  </a:moveTo>
                  <a:lnTo>
                    <a:pt x="21099100" y="0"/>
                  </a:lnTo>
                  <a:cubicBezTo>
                    <a:pt x="21712400" y="0"/>
                    <a:pt x="22209579" y="426449"/>
                    <a:pt x="22209579" y="952500"/>
                  </a:cubicBezTo>
                  <a:lnTo>
                    <a:pt x="22209579" y="8572500"/>
                  </a:lnTo>
                  <a:cubicBezTo>
                    <a:pt x="22209579" y="9098552"/>
                    <a:pt x="21712400" y="9525000"/>
                    <a:pt x="21099100" y="9525000"/>
                  </a:cubicBezTo>
                  <a:lnTo>
                    <a:pt x="1110479" y="9525000"/>
                  </a:lnTo>
                  <a:cubicBezTo>
                    <a:pt x="497178" y="9525000"/>
                    <a:pt x="0" y="9098552"/>
                    <a:pt x="0" y="8572500"/>
                  </a:cubicBezTo>
                  <a:lnTo>
                    <a:pt x="0" y="952500"/>
                  </a:lnTo>
                  <a:cubicBezTo>
                    <a:pt x="0" y="426449"/>
                    <a:pt x="497178" y="0"/>
                    <a:pt x="1110479" y="0"/>
                  </a:cubicBezTo>
                  <a:close/>
                </a:path>
              </a:pathLst>
            </a:custGeom>
            <a:solidFill>
              <a:srgbClr val="F8FAFF"/>
            </a:solidFill>
            <a:ln w="28575" cap="sq">
              <a:solidFill>
                <a:srgbClr val="398DFA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2209579" cy="956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1127479" y="2972077"/>
            <a:ext cx="5526025" cy="4779390"/>
          </a:xfrm>
          <a:custGeom>
            <a:avLst/>
            <a:gdLst/>
            <a:ahLst/>
            <a:cxnLst/>
            <a:rect l="l" t="t" r="r" b="b"/>
            <a:pathLst>
              <a:path w="5526025" h="4779390">
                <a:moveTo>
                  <a:pt x="0" y="0"/>
                </a:moveTo>
                <a:lnTo>
                  <a:pt x="5526025" y="0"/>
                </a:lnTo>
                <a:lnTo>
                  <a:pt x="5526025" y="4779390"/>
                </a:lnTo>
                <a:lnTo>
                  <a:pt x="0" y="47793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4" b="-131510"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845008" y="4263153"/>
            <a:ext cx="4716791" cy="2358926"/>
          </a:xfrm>
          <a:custGeom>
            <a:avLst/>
            <a:gdLst/>
            <a:ahLst/>
            <a:cxnLst/>
            <a:rect l="l" t="t" r="r" b="b"/>
            <a:pathLst>
              <a:path w="4716791" h="2358926">
                <a:moveTo>
                  <a:pt x="0" y="0"/>
                </a:moveTo>
                <a:lnTo>
                  <a:pt x="4716791" y="0"/>
                </a:lnTo>
                <a:lnTo>
                  <a:pt x="4716791" y="2358926"/>
                </a:lnTo>
                <a:lnTo>
                  <a:pt x="0" y="2358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7350" b="-132924"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1750261" y="3617615"/>
            <a:ext cx="5509039" cy="3488314"/>
          </a:xfrm>
          <a:custGeom>
            <a:avLst/>
            <a:gdLst/>
            <a:ahLst/>
            <a:cxnLst/>
            <a:rect l="l" t="t" r="r" b="b"/>
            <a:pathLst>
              <a:path w="5509039" h="3488314">
                <a:moveTo>
                  <a:pt x="0" y="0"/>
                </a:moveTo>
                <a:lnTo>
                  <a:pt x="5509039" y="0"/>
                </a:lnTo>
                <a:lnTo>
                  <a:pt x="5509039" y="3488314"/>
                </a:lnTo>
                <a:lnTo>
                  <a:pt x="0" y="34883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6145"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2476500" y="304800"/>
            <a:ext cx="13335000" cy="72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80"/>
              </a:lnSpc>
              <a:spcBef>
                <a:spcPct val="0"/>
              </a:spcBef>
            </a:pPr>
            <a:r>
              <a:rPr lang="en-US" sz="4200" u="none" strike="noStrike">
                <a:solidFill>
                  <a:srgbClr val="0453B9"/>
                </a:solidFill>
                <a:latin typeface="Francois One"/>
                <a:ea typeface="Francois One"/>
                <a:cs typeface="Francois One"/>
                <a:sym typeface="Francois One"/>
              </a:rPr>
              <a:t>SƠ ĐỒ USE CASE TỔNG QUÁT VÀ CÁC TÁC NHÂN </a:t>
            </a:r>
          </a:p>
        </p:txBody>
      </p:sp>
    </p:spTree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572500" y="1409700"/>
            <a:ext cx="1143000" cy="0"/>
          </a:xfrm>
          <a:prstGeom prst="line">
            <a:avLst/>
          </a:prstGeom>
          <a:ln w="28575" cap="flat">
            <a:solidFill>
              <a:srgbClr val="398D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7239000" y="5467350"/>
            <a:ext cx="38100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Chèn ảnh tại đây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667750" y="4581525"/>
            <a:ext cx="952500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 u="none" strike="noStrike">
                <a:solidFill>
                  <a:srgbClr val="398DFA"/>
                </a:solidFill>
                <a:latin typeface="Poppins"/>
                <a:ea typeface="Poppins"/>
                <a:cs typeface="Poppins"/>
                <a:sym typeface="Poppins"/>
              </a:rPr>
              <a:t>🖼️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34000" y="1019175"/>
            <a:ext cx="76200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398DFA"/>
                </a:solidFill>
                <a:latin typeface="Poppins"/>
                <a:ea typeface="Poppins"/>
                <a:cs typeface="Poppins"/>
                <a:sym typeface="Poppins"/>
              </a:rPr>
              <a:t>Lược đồ quan hệ cơ sở dữ liệu (ERD)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11761" y="7924605"/>
            <a:ext cx="2917031" cy="2917031"/>
            <a:chOff x="0" y="0"/>
            <a:chExt cx="889000" cy="889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9000" cy="889000"/>
            </a:xfrm>
            <a:custGeom>
              <a:avLst/>
              <a:gdLst/>
              <a:ahLst/>
              <a:cxnLst/>
              <a:rect l="l" t="t" r="r" b="b"/>
              <a:pathLst>
                <a:path w="889000" h="889000">
                  <a:moveTo>
                    <a:pt x="444500" y="0"/>
                  </a:moveTo>
                  <a:cubicBezTo>
                    <a:pt x="199009" y="0"/>
                    <a:pt x="0" y="199009"/>
                    <a:pt x="0" y="444500"/>
                  </a:cubicBezTo>
                  <a:cubicBezTo>
                    <a:pt x="0" y="689991"/>
                    <a:pt x="199009" y="889000"/>
                    <a:pt x="444500" y="889000"/>
                  </a:cubicBezTo>
                  <a:cubicBezTo>
                    <a:pt x="689991" y="889000"/>
                    <a:pt x="889000" y="689991"/>
                    <a:pt x="889000" y="444500"/>
                  </a:cubicBezTo>
                  <a:cubicBezTo>
                    <a:pt x="889000" y="199009"/>
                    <a:pt x="689991" y="0"/>
                    <a:pt x="444500" y="0"/>
                  </a:cubicBezTo>
                  <a:close/>
                </a:path>
              </a:pathLst>
            </a:custGeom>
            <a:solidFill>
              <a:srgbClr val="398DFA">
                <a:alpha val="4000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3596368" y="2907846"/>
            <a:ext cx="5266645" cy="5266645"/>
            <a:chOff x="0" y="0"/>
            <a:chExt cx="1168400" cy="1168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68400" cy="1168400"/>
            </a:xfrm>
            <a:custGeom>
              <a:avLst/>
              <a:gdLst/>
              <a:ahLst/>
              <a:cxnLst/>
              <a:rect l="l" t="t" r="r" b="b"/>
              <a:pathLst>
                <a:path w="1168400" h="1168400">
                  <a:moveTo>
                    <a:pt x="584200" y="0"/>
                  </a:moveTo>
                  <a:cubicBezTo>
                    <a:pt x="261555" y="0"/>
                    <a:pt x="0" y="261555"/>
                    <a:pt x="0" y="584200"/>
                  </a:cubicBezTo>
                  <a:cubicBezTo>
                    <a:pt x="0" y="906845"/>
                    <a:pt x="261555" y="1168400"/>
                    <a:pt x="584200" y="1168400"/>
                  </a:cubicBezTo>
                  <a:cubicBezTo>
                    <a:pt x="906845" y="1168400"/>
                    <a:pt x="1168400" y="906845"/>
                    <a:pt x="1168400" y="584200"/>
                  </a:cubicBezTo>
                  <a:cubicBezTo>
                    <a:pt x="1168400" y="261555"/>
                    <a:pt x="906845" y="0"/>
                    <a:pt x="584200" y="0"/>
                  </a:cubicBezTo>
                  <a:close/>
                </a:path>
              </a:pathLst>
            </a:custGeom>
            <a:solidFill>
              <a:srgbClr val="398DFA">
                <a:alpha val="4000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68400" cy="120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612961" y="8563971"/>
            <a:ext cx="819150" cy="819150"/>
            <a:chOff x="0" y="0"/>
            <a:chExt cx="1092200" cy="1092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2200" cy="1092200"/>
            </a:xfrm>
            <a:custGeom>
              <a:avLst/>
              <a:gdLst/>
              <a:ahLst/>
              <a:cxnLst/>
              <a:rect l="l" t="t" r="r" b="b"/>
              <a:pathLst>
                <a:path w="1092200" h="1092200">
                  <a:moveTo>
                    <a:pt x="546100" y="0"/>
                  </a:moveTo>
                  <a:cubicBezTo>
                    <a:pt x="244497" y="0"/>
                    <a:pt x="0" y="244497"/>
                    <a:pt x="0" y="546100"/>
                  </a:cubicBezTo>
                  <a:cubicBezTo>
                    <a:pt x="0" y="847703"/>
                    <a:pt x="244497" y="1092200"/>
                    <a:pt x="546100" y="1092200"/>
                  </a:cubicBezTo>
                  <a:cubicBezTo>
                    <a:pt x="847703" y="1092200"/>
                    <a:pt x="1092200" y="847703"/>
                    <a:pt x="1092200" y="546100"/>
                  </a:cubicBezTo>
                  <a:cubicBezTo>
                    <a:pt x="1092200" y="244497"/>
                    <a:pt x="847703" y="0"/>
                    <a:pt x="546100" y="0"/>
                  </a:cubicBezTo>
                  <a:close/>
                </a:path>
              </a:pathLst>
            </a:custGeom>
            <a:solidFill>
              <a:srgbClr val="398DFA">
                <a:alpha val="4000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092200" cy="1130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430000" y="-2228850"/>
            <a:ext cx="8105775" cy="8105775"/>
            <a:chOff x="0" y="0"/>
            <a:chExt cx="10807700" cy="108077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807700" cy="10807700"/>
            </a:xfrm>
            <a:custGeom>
              <a:avLst/>
              <a:gdLst/>
              <a:ahLst/>
              <a:cxnLst/>
              <a:rect l="l" t="t" r="r" b="b"/>
              <a:pathLst>
                <a:path w="10807700" h="10807700">
                  <a:moveTo>
                    <a:pt x="5403850" y="0"/>
                  </a:moveTo>
                  <a:cubicBezTo>
                    <a:pt x="2419386" y="0"/>
                    <a:pt x="0" y="2419386"/>
                    <a:pt x="0" y="5403850"/>
                  </a:cubicBezTo>
                  <a:cubicBezTo>
                    <a:pt x="0" y="8388314"/>
                    <a:pt x="2419386" y="10807700"/>
                    <a:pt x="5403850" y="10807700"/>
                  </a:cubicBezTo>
                  <a:cubicBezTo>
                    <a:pt x="8388314" y="10807700"/>
                    <a:pt x="10807700" y="8388314"/>
                    <a:pt x="10807700" y="5403850"/>
                  </a:cubicBezTo>
                  <a:cubicBezTo>
                    <a:pt x="10807700" y="2419386"/>
                    <a:pt x="8388314" y="0"/>
                    <a:pt x="5403850" y="0"/>
                  </a:cubicBezTo>
                  <a:close/>
                </a:path>
              </a:pathLst>
            </a:custGeom>
            <a:solidFill>
              <a:srgbClr val="0453B9">
                <a:alpha val="29804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0807700" cy="10845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0" y="9810750"/>
            <a:ext cx="18288000" cy="476250"/>
            <a:chOff x="0" y="0"/>
            <a:chExt cx="24384000" cy="635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4000" cy="635000"/>
            </a:xfrm>
            <a:custGeom>
              <a:avLst/>
              <a:gdLst/>
              <a:ahLst/>
              <a:cxnLst/>
              <a:rect l="l" t="t" r="r" b="b"/>
              <a:pathLst>
                <a:path w="24384000" h="6350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0"/>
                  </a:lnTo>
                  <a:lnTo>
                    <a:pt x="0" y="635000"/>
                  </a:ln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98DF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4384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98DF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2133007" y="1409700"/>
            <a:ext cx="14021987" cy="7973421"/>
          </a:xfrm>
          <a:custGeom>
            <a:avLst/>
            <a:gdLst/>
            <a:ahLst/>
            <a:cxnLst/>
            <a:rect l="l" t="t" r="r" b="b"/>
            <a:pathLst>
              <a:path w="14021987" h="7973421">
                <a:moveTo>
                  <a:pt x="0" y="0"/>
                </a:moveTo>
                <a:lnTo>
                  <a:pt x="14021986" y="0"/>
                </a:lnTo>
                <a:lnTo>
                  <a:pt x="14021986" y="7973421"/>
                </a:lnTo>
                <a:lnTo>
                  <a:pt x="0" y="79734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2476500" y="304800"/>
            <a:ext cx="13335000" cy="72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80"/>
              </a:lnSpc>
              <a:spcBef>
                <a:spcPct val="0"/>
              </a:spcBef>
            </a:pPr>
            <a:r>
              <a:rPr lang="en-US" sz="4200" u="none" strike="noStrike">
                <a:solidFill>
                  <a:srgbClr val="0453B9"/>
                </a:solidFill>
                <a:latin typeface="Francois One"/>
                <a:ea typeface="Francois One"/>
                <a:cs typeface="Francois One"/>
                <a:sym typeface="Francois One"/>
              </a:rPr>
              <a:t>SƠ ĐỒ CƠ SỞ DỮ LIỆU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690742" y="-3776663"/>
            <a:ext cx="7553325" cy="7553325"/>
            <a:chOff x="0" y="0"/>
            <a:chExt cx="1524000" cy="1524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762000" y="0"/>
                  </a:moveTo>
                  <a:cubicBezTo>
                    <a:pt x="341159" y="0"/>
                    <a:pt x="0" y="341159"/>
                    <a:pt x="0" y="762000"/>
                  </a:cubicBezTo>
                  <a:cubicBezTo>
                    <a:pt x="0" y="1182841"/>
                    <a:pt x="341159" y="1524000"/>
                    <a:pt x="762000" y="1524000"/>
                  </a:cubicBezTo>
                  <a:cubicBezTo>
                    <a:pt x="1182841" y="1524000"/>
                    <a:pt x="1524000" y="1182841"/>
                    <a:pt x="1524000" y="762000"/>
                  </a:cubicBezTo>
                  <a:cubicBezTo>
                    <a:pt x="1524000" y="341159"/>
                    <a:pt x="1182841" y="0"/>
                    <a:pt x="762000" y="0"/>
                  </a:cubicBezTo>
                  <a:close/>
                </a:path>
              </a:pathLst>
            </a:custGeom>
            <a:solidFill>
              <a:srgbClr val="0453B9">
                <a:alpha val="29804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524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98DF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476500" y="466725"/>
            <a:ext cx="13335000" cy="721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22"/>
              </a:lnSpc>
              <a:spcBef>
                <a:spcPct val="0"/>
              </a:spcBef>
            </a:pPr>
            <a:r>
              <a:rPr lang="en-US" sz="4230" u="none" strike="noStrike">
                <a:solidFill>
                  <a:srgbClr val="0453B9"/>
                </a:solidFill>
                <a:latin typeface="Francois One"/>
                <a:ea typeface="Francois One"/>
                <a:cs typeface="Francois One"/>
                <a:sym typeface="Francois One"/>
              </a:rPr>
              <a:t>KẾT QUẢ ĐẠT ĐƯỢC &amp; HẠN CHẾ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62000" y="1428750"/>
            <a:ext cx="8191500" cy="476250"/>
            <a:chOff x="0" y="0"/>
            <a:chExt cx="10922000" cy="635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922000" cy="635000"/>
            </a:xfrm>
            <a:custGeom>
              <a:avLst/>
              <a:gdLst/>
              <a:ahLst/>
              <a:cxnLst/>
              <a:rect l="l" t="t" r="r" b="b"/>
              <a:pathLst>
                <a:path w="10922000" h="635000">
                  <a:moveTo>
                    <a:pt x="63500" y="0"/>
                  </a:moveTo>
                  <a:lnTo>
                    <a:pt x="10858500" y="0"/>
                  </a:lnTo>
                  <a:cubicBezTo>
                    <a:pt x="10893570" y="0"/>
                    <a:pt x="10922000" y="28430"/>
                    <a:pt x="10922000" y="63500"/>
                  </a:cubicBezTo>
                  <a:lnTo>
                    <a:pt x="10922000" y="571500"/>
                  </a:lnTo>
                  <a:cubicBezTo>
                    <a:pt x="10922000" y="606570"/>
                    <a:pt x="10893570" y="635000"/>
                    <a:pt x="108585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0453B9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922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476500" y="1457325"/>
            <a:ext cx="4762500" cy="379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2"/>
              </a:lnSpc>
              <a:spcBef>
                <a:spcPct val="0"/>
              </a:spcBef>
            </a:pPr>
            <a:r>
              <a:rPr lang="en-US" sz="2301" u="none" strike="noStrike">
                <a:solidFill>
                  <a:srgbClr val="FFFFFF"/>
                </a:solidFill>
                <a:latin typeface="Francois One"/>
                <a:ea typeface="Francois One"/>
                <a:cs typeface="Francois One"/>
                <a:sym typeface="Francois One"/>
              </a:rPr>
              <a:t>✅ KẾT QUẢ THỰC NGHIỆM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334500" y="1428750"/>
            <a:ext cx="8191500" cy="476250"/>
            <a:chOff x="0" y="0"/>
            <a:chExt cx="10922000" cy="635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922000" cy="635000"/>
            </a:xfrm>
            <a:custGeom>
              <a:avLst/>
              <a:gdLst/>
              <a:ahLst/>
              <a:cxnLst/>
              <a:rect l="l" t="t" r="r" b="b"/>
              <a:pathLst>
                <a:path w="10922000" h="635000">
                  <a:moveTo>
                    <a:pt x="63500" y="0"/>
                  </a:moveTo>
                  <a:lnTo>
                    <a:pt x="10858500" y="0"/>
                  </a:lnTo>
                  <a:cubicBezTo>
                    <a:pt x="10893570" y="0"/>
                    <a:pt x="10922000" y="28430"/>
                    <a:pt x="10922000" y="63500"/>
                  </a:cubicBezTo>
                  <a:lnTo>
                    <a:pt x="10922000" y="571500"/>
                  </a:lnTo>
                  <a:cubicBezTo>
                    <a:pt x="10922000" y="606570"/>
                    <a:pt x="10893570" y="635000"/>
                    <a:pt x="108585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E74C3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922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049000" y="1457325"/>
            <a:ext cx="4762500" cy="379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2"/>
              </a:lnSpc>
              <a:spcBef>
                <a:spcPct val="0"/>
              </a:spcBef>
            </a:pPr>
            <a:r>
              <a:rPr lang="en-US" sz="2301" u="none" strike="noStrike">
                <a:solidFill>
                  <a:srgbClr val="FFFFFF"/>
                </a:solidFill>
                <a:latin typeface="Francois One"/>
                <a:ea typeface="Francois One"/>
                <a:cs typeface="Francois One"/>
                <a:sym typeface="Francois One"/>
              </a:rPr>
              <a:t>⚠️ HẠN CHẾ THỰC TẾ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62000" y="2190750"/>
            <a:ext cx="8191500" cy="1905000"/>
            <a:chOff x="0" y="0"/>
            <a:chExt cx="10922000" cy="254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922000" cy="2540000"/>
            </a:xfrm>
            <a:custGeom>
              <a:avLst/>
              <a:gdLst/>
              <a:ahLst/>
              <a:cxnLst/>
              <a:rect l="l" t="t" r="r" b="b"/>
              <a:pathLst>
                <a:path w="10922000" h="2540000">
                  <a:moveTo>
                    <a:pt x="254000" y="0"/>
                  </a:moveTo>
                  <a:lnTo>
                    <a:pt x="10668000" y="0"/>
                  </a:lnTo>
                  <a:cubicBezTo>
                    <a:pt x="10808281" y="0"/>
                    <a:pt x="10922000" y="113720"/>
                    <a:pt x="10922000" y="254000"/>
                  </a:cubicBezTo>
                  <a:lnTo>
                    <a:pt x="10922000" y="2286000"/>
                  </a:lnTo>
                  <a:cubicBezTo>
                    <a:pt x="10922000" y="2426280"/>
                    <a:pt x="10808281" y="2540000"/>
                    <a:pt x="10668000" y="2540000"/>
                  </a:cubicBezTo>
                  <a:lnTo>
                    <a:pt x="254000" y="2540000"/>
                  </a:lnTo>
                  <a:cubicBezTo>
                    <a:pt x="113720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0F7FF"/>
            </a:solidFill>
            <a:ln w="19050" cap="sq">
              <a:solidFill>
                <a:srgbClr val="398DFA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0922000" cy="257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43000" y="2686685"/>
            <a:ext cx="7429500" cy="843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Số hóa thành công quy trình quản lý Route - Stage và cơ chế duyệt bài Proof of Work.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62000" y="4381500"/>
            <a:ext cx="8191500" cy="1905000"/>
            <a:chOff x="0" y="0"/>
            <a:chExt cx="10922000" cy="2540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922000" cy="2540000"/>
            </a:xfrm>
            <a:custGeom>
              <a:avLst/>
              <a:gdLst/>
              <a:ahLst/>
              <a:cxnLst/>
              <a:rect l="l" t="t" r="r" b="b"/>
              <a:pathLst>
                <a:path w="10922000" h="2540000">
                  <a:moveTo>
                    <a:pt x="254000" y="0"/>
                  </a:moveTo>
                  <a:lnTo>
                    <a:pt x="10668000" y="0"/>
                  </a:lnTo>
                  <a:cubicBezTo>
                    <a:pt x="10808281" y="0"/>
                    <a:pt x="10922000" y="113720"/>
                    <a:pt x="10922000" y="254000"/>
                  </a:cubicBezTo>
                  <a:lnTo>
                    <a:pt x="10922000" y="2286000"/>
                  </a:lnTo>
                  <a:cubicBezTo>
                    <a:pt x="10922000" y="2426280"/>
                    <a:pt x="10808281" y="2540000"/>
                    <a:pt x="10668000" y="2540000"/>
                  </a:cubicBezTo>
                  <a:lnTo>
                    <a:pt x="254000" y="2540000"/>
                  </a:lnTo>
                  <a:cubicBezTo>
                    <a:pt x="113720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0F7FF"/>
            </a:solidFill>
            <a:ln w="19050" cap="sq">
              <a:solidFill>
                <a:srgbClr val="398DFA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0922000" cy="257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43000" y="4877435"/>
            <a:ext cx="7429500" cy="843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Tích hợp thành công AI Coach cá nhân hóa thực đơn sâu theo chỉ số BMI thời gian thực.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-2013219" y="6286500"/>
            <a:ext cx="6312438" cy="6312438"/>
            <a:chOff x="0" y="0"/>
            <a:chExt cx="762000" cy="762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398DFA">
                <a:alpha val="40000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62000" y="6572250"/>
            <a:ext cx="8191500" cy="1905000"/>
            <a:chOff x="0" y="0"/>
            <a:chExt cx="10922000" cy="2540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922000" cy="2540000"/>
            </a:xfrm>
            <a:custGeom>
              <a:avLst/>
              <a:gdLst/>
              <a:ahLst/>
              <a:cxnLst/>
              <a:rect l="l" t="t" r="r" b="b"/>
              <a:pathLst>
                <a:path w="10922000" h="2540000">
                  <a:moveTo>
                    <a:pt x="254000" y="0"/>
                  </a:moveTo>
                  <a:lnTo>
                    <a:pt x="10668000" y="0"/>
                  </a:lnTo>
                  <a:cubicBezTo>
                    <a:pt x="10808281" y="0"/>
                    <a:pt x="10922000" y="113720"/>
                    <a:pt x="10922000" y="254000"/>
                  </a:cubicBezTo>
                  <a:lnTo>
                    <a:pt x="10922000" y="2286000"/>
                  </a:lnTo>
                  <a:cubicBezTo>
                    <a:pt x="10922000" y="2426280"/>
                    <a:pt x="10808281" y="2540000"/>
                    <a:pt x="10668000" y="2540000"/>
                  </a:cubicBezTo>
                  <a:lnTo>
                    <a:pt x="254000" y="2540000"/>
                  </a:lnTo>
                  <a:cubicBezTo>
                    <a:pt x="113720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0F7FF"/>
            </a:solidFill>
            <a:ln w="19050" cap="sq">
              <a:solidFill>
                <a:srgbClr val="398DFA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0922000" cy="257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877786" y="7067550"/>
            <a:ext cx="5959929" cy="843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Tích hợp cổng thanh toán VNPay Sandbox an toàn.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334500" y="2190750"/>
            <a:ext cx="8191500" cy="1905000"/>
            <a:chOff x="0" y="0"/>
            <a:chExt cx="10922000" cy="2540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922000" cy="2540000"/>
            </a:xfrm>
            <a:custGeom>
              <a:avLst/>
              <a:gdLst/>
              <a:ahLst/>
              <a:cxnLst/>
              <a:rect l="l" t="t" r="r" b="b"/>
              <a:pathLst>
                <a:path w="10922000" h="2540000">
                  <a:moveTo>
                    <a:pt x="254000" y="0"/>
                  </a:moveTo>
                  <a:lnTo>
                    <a:pt x="10668000" y="0"/>
                  </a:lnTo>
                  <a:cubicBezTo>
                    <a:pt x="10808281" y="0"/>
                    <a:pt x="10922000" y="113720"/>
                    <a:pt x="10922000" y="254000"/>
                  </a:cubicBezTo>
                  <a:lnTo>
                    <a:pt x="10922000" y="2286000"/>
                  </a:lnTo>
                  <a:cubicBezTo>
                    <a:pt x="10922000" y="2426280"/>
                    <a:pt x="10808281" y="2540000"/>
                    <a:pt x="10668000" y="2540000"/>
                  </a:cubicBezTo>
                  <a:lnTo>
                    <a:pt x="254000" y="2540000"/>
                  </a:lnTo>
                  <a:cubicBezTo>
                    <a:pt x="113720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DF0F0"/>
            </a:solidFill>
            <a:ln w="19050" cap="sq">
              <a:solidFill>
                <a:srgbClr val="E74C3C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0922000" cy="257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9715500" y="2686685"/>
            <a:ext cx="7429500" cy="843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Hệ thống mới vận hành ở nền tảng Web Responsive, chưa có Native App trên di động.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334500" y="4381500"/>
            <a:ext cx="8191500" cy="1905000"/>
            <a:chOff x="0" y="0"/>
            <a:chExt cx="10922000" cy="2540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922000" cy="2540000"/>
            </a:xfrm>
            <a:custGeom>
              <a:avLst/>
              <a:gdLst/>
              <a:ahLst/>
              <a:cxnLst/>
              <a:rect l="l" t="t" r="r" b="b"/>
              <a:pathLst>
                <a:path w="10922000" h="2540000">
                  <a:moveTo>
                    <a:pt x="254000" y="0"/>
                  </a:moveTo>
                  <a:lnTo>
                    <a:pt x="10668000" y="0"/>
                  </a:lnTo>
                  <a:cubicBezTo>
                    <a:pt x="10808281" y="0"/>
                    <a:pt x="10922000" y="113720"/>
                    <a:pt x="10922000" y="254000"/>
                  </a:cubicBezTo>
                  <a:lnTo>
                    <a:pt x="10922000" y="2286000"/>
                  </a:lnTo>
                  <a:cubicBezTo>
                    <a:pt x="10922000" y="2426280"/>
                    <a:pt x="10808281" y="2540000"/>
                    <a:pt x="10668000" y="2540000"/>
                  </a:cubicBezTo>
                  <a:lnTo>
                    <a:pt x="254000" y="2540000"/>
                  </a:lnTo>
                  <a:cubicBezTo>
                    <a:pt x="113720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DF0F0"/>
            </a:solidFill>
            <a:ln w="19050" cap="sq">
              <a:solidFill>
                <a:srgbClr val="E74C3C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10922000" cy="257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9715500" y="4872672"/>
            <a:ext cx="7429500" cy="843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Dữ liệu video bài tập mẫu của huấn luyện viên còn giới hạn.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9334500" y="6572250"/>
            <a:ext cx="8191500" cy="1905000"/>
            <a:chOff x="0" y="0"/>
            <a:chExt cx="10922000" cy="25400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922000" cy="2540000"/>
            </a:xfrm>
            <a:custGeom>
              <a:avLst/>
              <a:gdLst/>
              <a:ahLst/>
              <a:cxnLst/>
              <a:rect l="l" t="t" r="r" b="b"/>
              <a:pathLst>
                <a:path w="10922000" h="2540000">
                  <a:moveTo>
                    <a:pt x="254000" y="0"/>
                  </a:moveTo>
                  <a:lnTo>
                    <a:pt x="10668000" y="0"/>
                  </a:lnTo>
                  <a:cubicBezTo>
                    <a:pt x="10808281" y="0"/>
                    <a:pt x="10922000" y="113720"/>
                    <a:pt x="10922000" y="254000"/>
                  </a:cubicBezTo>
                  <a:lnTo>
                    <a:pt x="10922000" y="2286000"/>
                  </a:lnTo>
                  <a:cubicBezTo>
                    <a:pt x="10922000" y="2426280"/>
                    <a:pt x="10808281" y="2540000"/>
                    <a:pt x="10668000" y="2540000"/>
                  </a:cubicBezTo>
                  <a:lnTo>
                    <a:pt x="254000" y="2540000"/>
                  </a:lnTo>
                  <a:cubicBezTo>
                    <a:pt x="113720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DF0F0"/>
            </a:solidFill>
            <a:ln w="19050" cap="sq">
              <a:solidFill>
                <a:srgbClr val="E74C3C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10922000" cy="257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9715500" y="7068185"/>
            <a:ext cx="7429500" cy="843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VNPay mới chỉ thử nghiệm trên môi trường Sandbox do yêu cầu pháp lý doanh nghiệp.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0" y="9810750"/>
            <a:ext cx="18288000" cy="476250"/>
            <a:chOff x="0" y="0"/>
            <a:chExt cx="24384000" cy="6350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4384000" cy="635000"/>
            </a:xfrm>
            <a:custGeom>
              <a:avLst/>
              <a:gdLst/>
              <a:ahLst/>
              <a:cxnLst/>
              <a:rect l="l" t="t" r="r" b="b"/>
              <a:pathLst>
                <a:path w="24384000" h="6350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0"/>
                  </a:lnTo>
                  <a:lnTo>
                    <a:pt x="0" y="635000"/>
                  </a:ln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98DF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24384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77351" y="-294324"/>
            <a:ext cx="5085399" cy="5085399"/>
            <a:chOff x="0" y="0"/>
            <a:chExt cx="1524000" cy="1524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762000" y="0"/>
                  </a:moveTo>
                  <a:cubicBezTo>
                    <a:pt x="341159" y="0"/>
                    <a:pt x="0" y="341159"/>
                    <a:pt x="0" y="762000"/>
                  </a:cubicBezTo>
                  <a:cubicBezTo>
                    <a:pt x="0" y="1182841"/>
                    <a:pt x="341159" y="1524000"/>
                    <a:pt x="762000" y="1524000"/>
                  </a:cubicBezTo>
                  <a:cubicBezTo>
                    <a:pt x="1182841" y="1524000"/>
                    <a:pt x="1524000" y="1182841"/>
                    <a:pt x="1524000" y="762000"/>
                  </a:cubicBezTo>
                  <a:cubicBezTo>
                    <a:pt x="1524000" y="341159"/>
                    <a:pt x="1182841" y="0"/>
                    <a:pt x="762000" y="0"/>
                  </a:cubicBezTo>
                  <a:close/>
                </a:path>
              </a:pathLst>
            </a:custGeom>
            <a:solidFill>
              <a:srgbClr val="0453B9">
                <a:alpha val="29804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524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98DF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887551" y="4791075"/>
            <a:ext cx="5085399" cy="5085399"/>
            <a:chOff x="0" y="0"/>
            <a:chExt cx="1524000" cy="152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762000" y="0"/>
                  </a:moveTo>
                  <a:cubicBezTo>
                    <a:pt x="341159" y="0"/>
                    <a:pt x="0" y="341159"/>
                    <a:pt x="0" y="762000"/>
                  </a:cubicBezTo>
                  <a:cubicBezTo>
                    <a:pt x="0" y="1182841"/>
                    <a:pt x="341159" y="1524000"/>
                    <a:pt x="762000" y="1524000"/>
                  </a:cubicBezTo>
                  <a:cubicBezTo>
                    <a:pt x="1182841" y="1524000"/>
                    <a:pt x="1524000" y="1182841"/>
                    <a:pt x="1524000" y="762000"/>
                  </a:cubicBezTo>
                  <a:cubicBezTo>
                    <a:pt x="1524000" y="341159"/>
                    <a:pt x="1182841" y="0"/>
                    <a:pt x="762000" y="0"/>
                  </a:cubicBezTo>
                  <a:close/>
                </a:path>
              </a:pathLst>
            </a:custGeom>
            <a:solidFill>
              <a:srgbClr val="0453B9">
                <a:alpha val="29804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524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857750" y="704850"/>
            <a:ext cx="8477250" cy="8477250"/>
            <a:chOff x="0" y="0"/>
            <a:chExt cx="762000" cy="762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398DFA">
                <a:alpha val="4000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476500" y="466725"/>
            <a:ext cx="13335000" cy="721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22"/>
              </a:lnSpc>
              <a:spcBef>
                <a:spcPct val="0"/>
              </a:spcBef>
            </a:pPr>
            <a:r>
              <a:rPr lang="en-US" sz="4230" u="none" strike="noStrike">
                <a:solidFill>
                  <a:srgbClr val="0453B9"/>
                </a:solidFill>
                <a:latin typeface="Francois One"/>
                <a:ea typeface="Francois One"/>
                <a:cs typeface="Francois One"/>
                <a:sym typeface="Francois One"/>
              </a:rPr>
              <a:t>KẾT LUẬN &amp; HƯỚNG PHÁT TRIỂN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62000" y="1428750"/>
            <a:ext cx="8191500" cy="476250"/>
            <a:chOff x="0" y="0"/>
            <a:chExt cx="10922000" cy="635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922000" cy="635000"/>
            </a:xfrm>
            <a:custGeom>
              <a:avLst/>
              <a:gdLst/>
              <a:ahLst/>
              <a:cxnLst/>
              <a:rect l="l" t="t" r="r" b="b"/>
              <a:pathLst>
                <a:path w="10922000" h="635000">
                  <a:moveTo>
                    <a:pt x="63500" y="0"/>
                  </a:moveTo>
                  <a:lnTo>
                    <a:pt x="10858500" y="0"/>
                  </a:lnTo>
                  <a:cubicBezTo>
                    <a:pt x="10893570" y="0"/>
                    <a:pt x="10922000" y="28430"/>
                    <a:pt x="10922000" y="63500"/>
                  </a:cubicBezTo>
                  <a:lnTo>
                    <a:pt x="10922000" y="571500"/>
                  </a:lnTo>
                  <a:cubicBezTo>
                    <a:pt x="10922000" y="606570"/>
                    <a:pt x="10893570" y="635000"/>
                    <a:pt x="108585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0453B9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0922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952750" y="1457325"/>
            <a:ext cx="3810000" cy="379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2"/>
              </a:lnSpc>
              <a:spcBef>
                <a:spcPct val="0"/>
              </a:spcBef>
            </a:pPr>
            <a:r>
              <a:rPr lang="en-US" sz="2301" u="none" strike="noStrike">
                <a:solidFill>
                  <a:srgbClr val="FFFFFF"/>
                </a:solidFill>
                <a:latin typeface="Francois One"/>
                <a:ea typeface="Francois One"/>
                <a:cs typeface="Francois One"/>
                <a:sym typeface="Francois One"/>
              </a:rPr>
              <a:t>📌 KẾT LUẬN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334500" y="1428750"/>
            <a:ext cx="8191500" cy="476250"/>
            <a:chOff x="0" y="0"/>
            <a:chExt cx="10922000" cy="635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922000" cy="635000"/>
            </a:xfrm>
            <a:custGeom>
              <a:avLst/>
              <a:gdLst/>
              <a:ahLst/>
              <a:cxnLst/>
              <a:rect l="l" t="t" r="r" b="b"/>
              <a:pathLst>
                <a:path w="10922000" h="635000">
                  <a:moveTo>
                    <a:pt x="63500" y="0"/>
                  </a:moveTo>
                  <a:lnTo>
                    <a:pt x="10858500" y="0"/>
                  </a:lnTo>
                  <a:cubicBezTo>
                    <a:pt x="10893570" y="0"/>
                    <a:pt x="10922000" y="28430"/>
                    <a:pt x="10922000" y="63500"/>
                  </a:cubicBezTo>
                  <a:lnTo>
                    <a:pt x="10922000" y="571500"/>
                  </a:lnTo>
                  <a:cubicBezTo>
                    <a:pt x="10922000" y="606570"/>
                    <a:pt x="10893570" y="635000"/>
                    <a:pt x="10858500" y="635000"/>
                  </a:cubicBezTo>
                  <a:lnTo>
                    <a:pt x="63500" y="635000"/>
                  </a:lnTo>
                  <a:cubicBezTo>
                    <a:pt x="28430" y="635000"/>
                    <a:pt x="0" y="606570"/>
                    <a:pt x="0" y="57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27AE60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0922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049000" y="1457325"/>
            <a:ext cx="4762500" cy="379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2"/>
              </a:lnSpc>
              <a:spcBef>
                <a:spcPct val="0"/>
              </a:spcBef>
            </a:pPr>
            <a:r>
              <a:rPr lang="en-US" sz="2301" u="none" strike="noStrike">
                <a:solidFill>
                  <a:srgbClr val="FFFFFF"/>
                </a:solidFill>
                <a:latin typeface="Francois One"/>
                <a:ea typeface="Francois One"/>
                <a:cs typeface="Francois One"/>
                <a:sym typeface="Francois One"/>
              </a:rPr>
              <a:t>🚀 HƯỚNG PHÁT TRIỂN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762000" y="2190750"/>
            <a:ext cx="8191500" cy="1714500"/>
            <a:chOff x="0" y="0"/>
            <a:chExt cx="10922000" cy="2286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922000" cy="2286000"/>
            </a:xfrm>
            <a:custGeom>
              <a:avLst/>
              <a:gdLst/>
              <a:ahLst/>
              <a:cxnLst/>
              <a:rect l="l" t="t" r="r" b="b"/>
              <a:pathLst>
                <a:path w="10922000" h="2286000">
                  <a:moveTo>
                    <a:pt x="228600" y="0"/>
                  </a:moveTo>
                  <a:lnTo>
                    <a:pt x="10693400" y="0"/>
                  </a:lnTo>
                  <a:cubicBezTo>
                    <a:pt x="10819652" y="0"/>
                    <a:pt x="10922000" y="102348"/>
                    <a:pt x="10922000" y="228600"/>
                  </a:cubicBezTo>
                  <a:lnTo>
                    <a:pt x="10922000" y="2057400"/>
                  </a:lnTo>
                  <a:cubicBezTo>
                    <a:pt x="10922000" y="2183652"/>
                    <a:pt x="10819652" y="2286000"/>
                    <a:pt x="106934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0F7FF"/>
            </a:solidFill>
            <a:ln w="19050" cap="sq">
              <a:solidFill>
                <a:srgbClr val="398DFA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09220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43000" y="2591435"/>
            <a:ext cx="7429500" cy="843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Hoàn thành thiết kế và cài đặt thực nghiệm hệ thống phần mềm FitVibe ổn định.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762000" y="4191000"/>
            <a:ext cx="8191500" cy="1714500"/>
            <a:chOff x="0" y="0"/>
            <a:chExt cx="10922000" cy="2286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922000" cy="2286000"/>
            </a:xfrm>
            <a:custGeom>
              <a:avLst/>
              <a:gdLst/>
              <a:ahLst/>
              <a:cxnLst/>
              <a:rect l="l" t="t" r="r" b="b"/>
              <a:pathLst>
                <a:path w="10922000" h="2286000">
                  <a:moveTo>
                    <a:pt x="228600" y="0"/>
                  </a:moveTo>
                  <a:lnTo>
                    <a:pt x="10693400" y="0"/>
                  </a:lnTo>
                  <a:cubicBezTo>
                    <a:pt x="10819652" y="0"/>
                    <a:pt x="10922000" y="102348"/>
                    <a:pt x="10922000" y="228600"/>
                  </a:cubicBezTo>
                  <a:lnTo>
                    <a:pt x="10922000" y="2057400"/>
                  </a:lnTo>
                  <a:cubicBezTo>
                    <a:pt x="10922000" y="2183652"/>
                    <a:pt x="10819652" y="2286000"/>
                    <a:pt x="106934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0F7FF"/>
            </a:solidFill>
            <a:ln w="19050" cap="sq">
              <a:solidFill>
                <a:srgbClr val="398DFA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09220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143000" y="4591685"/>
            <a:ext cx="7429500" cy="843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Giải quyết tốt bài toán tương tác hai chiều có kỷ luật và cá nhân hóa tư vấn bằng AI.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762000" y="6191250"/>
            <a:ext cx="8191500" cy="1714500"/>
            <a:chOff x="0" y="0"/>
            <a:chExt cx="10922000" cy="2286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922000" cy="2286000"/>
            </a:xfrm>
            <a:custGeom>
              <a:avLst/>
              <a:gdLst/>
              <a:ahLst/>
              <a:cxnLst/>
              <a:rect l="l" t="t" r="r" b="b"/>
              <a:pathLst>
                <a:path w="10922000" h="2286000">
                  <a:moveTo>
                    <a:pt x="228600" y="0"/>
                  </a:moveTo>
                  <a:lnTo>
                    <a:pt x="10693400" y="0"/>
                  </a:lnTo>
                  <a:cubicBezTo>
                    <a:pt x="10819652" y="0"/>
                    <a:pt x="10922000" y="102348"/>
                    <a:pt x="10922000" y="228600"/>
                  </a:cubicBezTo>
                  <a:lnTo>
                    <a:pt x="10922000" y="2057400"/>
                  </a:lnTo>
                  <a:cubicBezTo>
                    <a:pt x="10922000" y="2183652"/>
                    <a:pt x="10819652" y="2286000"/>
                    <a:pt x="106934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0F7FF"/>
            </a:solidFill>
            <a:ln w="19050" cap="sq">
              <a:solidFill>
                <a:srgbClr val="398DFA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0922000" cy="232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43000" y="6591935"/>
            <a:ext cx="7429500" cy="843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Hệ thống hóa minh bạch lịch sử sức khỏe, tiến trình học .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334500" y="2190750"/>
            <a:ext cx="8191500" cy="2571750"/>
            <a:chOff x="0" y="0"/>
            <a:chExt cx="10922000" cy="34290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922000" cy="3429000"/>
            </a:xfrm>
            <a:custGeom>
              <a:avLst/>
              <a:gdLst/>
              <a:ahLst/>
              <a:cxnLst/>
              <a:rect l="l" t="t" r="r" b="b"/>
              <a:pathLst>
                <a:path w="10922000" h="3429000">
                  <a:moveTo>
                    <a:pt x="342900" y="0"/>
                  </a:moveTo>
                  <a:lnTo>
                    <a:pt x="10579100" y="0"/>
                  </a:lnTo>
                  <a:cubicBezTo>
                    <a:pt x="10768478" y="0"/>
                    <a:pt x="10922000" y="153522"/>
                    <a:pt x="10922000" y="342900"/>
                  </a:cubicBezTo>
                  <a:lnTo>
                    <a:pt x="10922000" y="3086100"/>
                  </a:lnTo>
                  <a:cubicBezTo>
                    <a:pt x="10922000" y="3275478"/>
                    <a:pt x="10768478" y="3429000"/>
                    <a:pt x="10579100" y="3429000"/>
                  </a:cubicBezTo>
                  <a:lnTo>
                    <a:pt x="342900" y="3429000"/>
                  </a:lnTo>
                  <a:cubicBezTo>
                    <a:pt x="153522" y="3429000"/>
                    <a:pt x="0" y="3275478"/>
                    <a:pt x="0" y="3086100"/>
                  </a:cubicBezTo>
                  <a:lnTo>
                    <a:pt x="0" y="342900"/>
                  </a:lnTo>
                  <a:cubicBezTo>
                    <a:pt x="0" y="153522"/>
                    <a:pt x="153522" y="0"/>
                    <a:pt x="342900" y="0"/>
                  </a:cubicBezTo>
                  <a:close/>
                </a:path>
              </a:pathLst>
            </a:custGeom>
            <a:solidFill>
              <a:srgbClr val="F0FFF5"/>
            </a:solidFill>
            <a:ln w="19050" cap="sq">
              <a:solidFill>
                <a:srgbClr val="27AE6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0922000" cy="346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9715500" y="2543175"/>
            <a:ext cx="7429500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27AE60"/>
                </a:solidFill>
                <a:latin typeface="Poppins Bold"/>
                <a:ea typeface="Poppins Bold"/>
                <a:cs typeface="Poppins Bold"/>
                <a:sym typeface="Poppins Bold"/>
              </a:rPr>
              <a:t>🤖 AI Computer Vision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001250" y="3048635"/>
            <a:ext cx="6858000" cy="1263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Nhận diện hình ảnh để chấm điểm khung xương và sửa tư thế qua camera thời gian thực.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9334500" y="5048250"/>
            <a:ext cx="8191500" cy="2571750"/>
            <a:chOff x="0" y="0"/>
            <a:chExt cx="10922000" cy="34290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922000" cy="3429000"/>
            </a:xfrm>
            <a:custGeom>
              <a:avLst/>
              <a:gdLst/>
              <a:ahLst/>
              <a:cxnLst/>
              <a:rect l="l" t="t" r="r" b="b"/>
              <a:pathLst>
                <a:path w="10922000" h="3429000">
                  <a:moveTo>
                    <a:pt x="342900" y="0"/>
                  </a:moveTo>
                  <a:lnTo>
                    <a:pt x="10579100" y="0"/>
                  </a:lnTo>
                  <a:cubicBezTo>
                    <a:pt x="10768478" y="0"/>
                    <a:pt x="10922000" y="153522"/>
                    <a:pt x="10922000" y="342900"/>
                  </a:cubicBezTo>
                  <a:lnTo>
                    <a:pt x="10922000" y="3086100"/>
                  </a:lnTo>
                  <a:cubicBezTo>
                    <a:pt x="10922000" y="3275478"/>
                    <a:pt x="10768478" y="3429000"/>
                    <a:pt x="10579100" y="3429000"/>
                  </a:cubicBezTo>
                  <a:lnTo>
                    <a:pt x="342900" y="3429000"/>
                  </a:lnTo>
                  <a:cubicBezTo>
                    <a:pt x="153522" y="3429000"/>
                    <a:pt x="0" y="3275478"/>
                    <a:pt x="0" y="3086100"/>
                  </a:cubicBezTo>
                  <a:lnTo>
                    <a:pt x="0" y="342900"/>
                  </a:lnTo>
                  <a:cubicBezTo>
                    <a:pt x="0" y="153522"/>
                    <a:pt x="153522" y="0"/>
                    <a:pt x="342900" y="0"/>
                  </a:cubicBezTo>
                  <a:close/>
                </a:path>
              </a:pathLst>
            </a:custGeom>
            <a:solidFill>
              <a:srgbClr val="F0FFF5"/>
            </a:solidFill>
            <a:ln w="19050" cap="sq">
              <a:solidFill>
                <a:srgbClr val="27AE6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10922000" cy="346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9715500" y="5400675"/>
            <a:ext cx="7429500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27AE60"/>
                </a:solidFill>
                <a:latin typeface="Poppins Bold"/>
                <a:ea typeface="Poppins Bold"/>
                <a:cs typeface="Poppins Bold"/>
                <a:sym typeface="Poppins Bold"/>
              </a:rPr>
              <a:t>📱 Mobile App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001250" y="6320472"/>
            <a:ext cx="6858000" cy="424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Phát triển ứng dụng di động hoàn chỉnh.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0" y="9810750"/>
            <a:ext cx="18288000" cy="476250"/>
            <a:chOff x="0" y="0"/>
            <a:chExt cx="24384000" cy="6350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4384000" cy="635000"/>
            </a:xfrm>
            <a:custGeom>
              <a:avLst/>
              <a:gdLst/>
              <a:ahLst/>
              <a:cxnLst/>
              <a:rect l="l" t="t" r="r" b="b"/>
              <a:pathLst>
                <a:path w="24384000" h="6350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0"/>
                  </a:lnTo>
                  <a:lnTo>
                    <a:pt x="0" y="635000"/>
                  </a:ln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98DF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24384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</p:spTree>
  </p:cSld>
  <p:clrMapOvr>
    <a:masterClrMapping/>
  </p:clrMapOvr>
  <p:transition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628">
                <a:alpha val="100000"/>
              </a:srgbClr>
            </a:gs>
            <a:gs pos="100000">
              <a:srgbClr val="0453B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15250" y="6762750"/>
            <a:ext cx="2857500" cy="28575"/>
            <a:chOff x="0" y="0"/>
            <a:chExt cx="3810000" cy="38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10000" cy="38100"/>
            </a:xfrm>
            <a:custGeom>
              <a:avLst/>
              <a:gdLst/>
              <a:ahLst/>
              <a:cxnLst/>
              <a:rect l="l" t="t" r="r" b="b"/>
              <a:pathLst>
                <a:path w="3810000" h="38100">
                  <a:moveTo>
                    <a:pt x="3810" y="0"/>
                  </a:moveTo>
                  <a:lnTo>
                    <a:pt x="3806190" y="0"/>
                  </a:lnTo>
                  <a:cubicBezTo>
                    <a:pt x="3808294" y="0"/>
                    <a:pt x="3810000" y="1706"/>
                    <a:pt x="3810000" y="3810"/>
                  </a:cubicBezTo>
                  <a:lnTo>
                    <a:pt x="3810000" y="34290"/>
                  </a:lnTo>
                  <a:cubicBezTo>
                    <a:pt x="3810000" y="36394"/>
                    <a:pt x="3808294" y="38100"/>
                    <a:pt x="3806190" y="38100"/>
                  </a:cubicBezTo>
                  <a:lnTo>
                    <a:pt x="3810" y="38100"/>
                  </a:lnTo>
                  <a:cubicBezTo>
                    <a:pt x="1706" y="38100"/>
                    <a:pt x="0" y="36394"/>
                    <a:pt x="0" y="34290"/>
                  </a:cubicBezTo>
                  <a:lnTo>
                    <a:pt x="0" y="3810"/>
                  </a:lnTo>
                  <a:cubicBezTo>
                    <a:pt x="0" y="1706"/>
                    <a:pt x="1706" y="0"/>
                    <a:pt x="3810" y="0"/>
                  </a:cubicBezTo>
                  <a:close/>
                </a:path>
              </a:pathLst>
            </a:custGeom>
            <a:solidFill>
              <a:srgbClr val="398DF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8100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192500" y="1714500"/>
            <a:ext cx="762000" cy="762000"/>
            <a:chOff x="0" y="0"/>
            <a:chExt cx="1016000" cy="10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16000" cy="1016000"/>
            </a:xfrm>
            <a:custGeom>
              <a:avLst/>
              <a:gdLst/>
              <a:ahLst/>
              <a:cxnLst/>
              <a:rect l="l" t="t" r="r" b="b"/>
              <a:pathLst>
                <a:path w="1016000" h="1016000">
                  <a:moveTo>
                    <a:pt x="508000" y="0"/>
                  </a:moveTo>
                  <a:cubicBezTo>
                    <a:pt x="227439" y="0"/>
                    <a:pt x="0" y="227439"/>
                    <a:pt x="0" y="508000"/>
                  </a:cubicBezTo>
                  <a:cubicBezTo>
                    <a:pt x="0" y="788561"/>
                    <a:pt x="227439" y="1016000"/>
                    <a:pt x="508000" y="1016000"/>
                  </a:cubicBezTo>
                  <a:cubicBezTo>
                    <a:pt x="788561" y="1016000"/>
                    <a:pt x="1016000" y="788561"/>
                    <a:pt x="1016000" y="508000"/>
                  </a:cubicBezTo>
                  <a:cubicBezTo>
                    <a:pt x="1016000" y="22743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398DFA">
                <a:alpha val="14902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16000" cy="10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240000" y="7143750"/>
            <a:ext cx="1143000" cy="1143000"/>
            <a:chOff x="0" y="0"/>
            <a:chExt cx="1524000" cy="152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762000" y="0"/>
                  </a:moveTo>
                  <a:cubicBezTo>
                    <a:pt x="341159" y="0"/>
                    <a:pt x="0" y="341159"/>
                    <a:pt x="0" y="762000"/>
                  </a:cubicBezTo>
                  <a:cubicBezTo>
                    <a:pt x="0" y="1182841"/>
                    <a:pt x="341159" y="1524000"/>
                    <a:pt x="762000" y="1524000"/>
                  </a:cubicBezTo>
                  <a:cubicBezTo>
                    <a:pt x="1182841" y="1524000"/>
                    <a:pt x="1524000" y="1182841"/>
                    <a:pt x="1524000" y="762000"/>
                  </a:cubicBezTo>
                  <a:cubicBezTo>
                    <a:pt x="1524000" y="341159"/>
                    <a:pt x="1182841" y="0"/>
                    <a:pt x="762000" y="0"/>
                  </a:cubicBezTo>
                  <a:close/>
                </a:path>
              </a:pathLst>
            </a:custGeom>
            <a:solidFill>
              <a:srgbClr val="0453B9">
                <a:alpha val="24706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524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28750" y="952500"/>
            <a:ext cx="1905000" cy="1905000"/>
            <a:chOff x="0" y="0"/>
            <a:chExt cx="2540000" cy="254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40000" cy="2540000"/>
            </a:xfrm>
            <a:custGeom>
              <a:avLst/>
              <a:gdLst/>
              <a:ahLst/>
              <a:cxnLst/>
              <a:rect l="l" t="t" r="r" b="b"/>
              <a:pathLst>
                <a:path w="2540000" h="2540000">
                  <a:moveTo>
                    <a:pt x="1270000" y="0"/>
                  </a:moveTo>
                  <a:cubicBezTo>
                    <a:pt x="568598" y="0"/>
                    <a:pt x="0" y="568598"/>
                    <a:pt x="0" y="1270000"/>
                  </a:cubicBezTo>
                  <a:cubicBezTo>
                    <a:pt x="0" y="1971402"/>
                    <a:pt x="568598" y="2540000"/>
                    <a:pt x="1270000" y="2540000"/>
                  </a:cubicBezTo>
                  <a:cubicBezTo>
                    <a:pt x="1971402" y="2540000"/>
                    <a:pt x="2540000" y="1971402"/>
                    <a:pt x="2540000" y="1270000"/>
                  </a:cubicBezTo>
                  <a:cubicBezTo>
                    <a:pt x="2540000" y="568598"/>
                    <a:pt x="1971402" y="0"/>
                    <a:pt x="1270000" y="0"/>
                  </a:cubicBezTo>
                  <a:close/>
                </a:path>
              </a:pathLst>
            </a:custGeom>
            <a:solidFill>
              <a:srgbClr val="398DFA">
                <a:alpha val="19608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540000" cy="257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98DF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0" y="9810750"/>
            <a:ext cx="18288000" cy="476250"/>
            <a:chOff x="0" y="0"/>
            <a:chExt cx="24384000" cy="635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384000" cy="635000"/>
            </a:xfrm>
            <a:custGeom>
              <a:avLst/>
              <a:gdLst/>
              <a:ahLst/>
              <a:cxnLst/>
              <a:rect l="l" t="t" r="r" b="b"/>
              <a:pathLst>
                <a:path w="24384000" h="6350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0"/>
                  </a:lnTo>
                  <a:lnTo>
                    <a:pt x="0" y="635000"/>
                  </a:ln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98DF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4384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62750" y="2381250"/>
            <a:ext cx="4762500" cy="4762500"/>
            <a:chOff x="0" y="0"/>
            <a:chExt cx="6350000" cy="6350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98DFA">
                <a:alpha val="14902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6350000" cy="638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476500" y="4191000"/>
            <a:ext cx="13335000" cy="1707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022"/>
              </a:lnSpc>
              <a:spcBef>
                <a:spcPct val="0"/>
              </a:spcBef>
            </a:pPr>
            <a:r>
              <a:rPr lang="en-US" sz="10015" u="none" strike="noStrike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DEMO SẢN PHẨM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34000" y="6134100"/>
            <a:ext cx="7620000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98C7FF"/>
                </a:solidFill>
                <a:latin typeface="Poppins"/>
                <a:ea typeface="Poppins"/>
                <a:cs typeface="Poppins"/>
                <a:sym typeface="Poppins"/>
              </a:rPr>
              <a:t>Website luyện tập thể dục FitVibe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334000" y="7258050"/>
            <a:ext cx="76200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6AABFF"/>
                </a:solidFill>
                <a:latin typeface="Poppins"/>
                <a:ea typeface="Poppins"/>
                <a:cs typeface="Poppins"/>
                <a:sym typeface="Poppins"/>
              </a:rPr>
              <a:t>Next.js  •  Node.js  •  MySQL  •  Gemini API</a:t>
            </a:r>
          </a:p>
        </p:txBody>
      </p:sp>
    </p:spTree>
  </p:cSld>
  <p:clrMapOvr>
    <a:masterClrMapping/>
  </p:clrMapOvr>
  <p:transition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447667" y="1787933"/>
            <a:ext cx="5648833" cy="5648833"/>
            <a:chOff x="0" y="0"/>
            <a:chExt cx="3810000" cy="381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10000" cy="3810000"/>
            </a:xfrm>
            <a:custGeom>
              <a:avLst/>
              <a:gdLst/>
              <a:ahLst/>
              <a:cxnLst/>
              <a:rect l="l" t="t" r="r" b="b"/>
              <a:pathLst>
                <a:path w="3810000" h="3810000">
                  <a:moveTo>
                    <a:pt x="1905000" y="0"/>
                  </a:moveTo>
                  <a:cubicBezTo>
                    <a:pt x="852898" y="0"/>
                    <a:pt x="0" y="852898"/>
                    <a:pt x="0" y="1905000"/>
                  </a:cubicBezTo>
                  <a:cubicBezTo>
                    <a:pt x="0" y="2957102"/>
                    <a:pt x="852898" y="3810000"/>
                    <a:pt x="1905000" y="3810000"/>
                  </a:cubicBezTo>
                  <a:cubicBezTo>
                    <a:pt x="2957102" y="3810000"/>
                    <a:pt x="3810000" y="2957102"/>
                    <a:pt x="3810000" y="1905000"/>
                  </a:cubicBezTo>
                  <a:cubicBezTo>
                    <a:pt x="3810000" y="852898"/>
                    <a:pt x="2957102" y="0"/>
                    <a:pt x="1905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6000"/>
                  </a:srgbClr>
                </a:gs>
                <a:gs pos="100000">
                  <a:srgbClr val="5CE1E6">
                    <a:alpha val="6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8568292" y="-1768965"/>
            <a:ext cx="14758380" cy="14758380"/>
            <a:chOff x="0" y="0"/>
            <a:chExt cx="762000" cy="762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40000"/>
                  </a:srgbClr>
                </a:gs>
                <a:gs pos="100000">
                  <a:srgbClr val="5CE1E6">
                    <a:alpha val="4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906500" y="-682625"/>
            <a:ext cx="9544050" cy="9544050"/>
            <a:chOff x="0" y="0"/>
            <a:chExt cx="1524000" cy="152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762000" y="0"/>
                  </a:moveTo>
                  <a:cubicBezTo>
                    <a:pt x="341159" y="0"/>
                    <a:pt x="0" y="341159"/>
                    <a:pt x="0" y="762000"/>
                  </a:cubicBezTo>
                  <a:cubicBezTo>
                    <a:pt x="0" y="1182841"/>
                    <a:pt x="341159" y="1524000"/>
                    <a:pt x="762000" y="1524000"/>
                  </a:cubicBezTo>
                  <a:cubicBezTo>
                    <a:pt x="1182841" y="1524000"/>
                    <a:pt x="1524000" y="1182841"/>
                    <a:pt x="1524000" y="762000"/>
                  </a:cubicBezTo>
                  <a:cubicBezTo>
                    <a:pt x="1524000" y="341159"/>
                    <a:pt x="1182841" y="0"/>
                    <a:pt x="762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30000"/>
                  </a:srgbClr>
                </a:gs>
                <a:gs pos="100000">
                  <a:srgbClr val="004AAD">
                    <a:alpha val="3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524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98DF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9810750"/>
            <a:ext cx="18288000" cy="476250"/>
            <a:chOff x="0" y="0"/>
            <a:chExt cx="24384000" cy="635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384000" cy="635000"/>
            </a:xfrm>
            <a:custGeom>
              <a:avLst/>
              <a:gdLst/>
              <a:ahLst/>
              <a:cxnLst/>
              <a:rect l="l" t="t" r="r" b="b"/>
              <a:pathLst>
                <a:path w="24384000" h="6350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0"/>
                  </a:lnTo>
                  <a:lnTo>
                    <a:pt x="0" y="635000"/>
                  </a:lnTo>
                  <a:close/>
                </a:path>
              </a:pathLst>
            </a:custGeom>
            <a:gradFill rotWithShape="1">
              <a:gsLst>
                <a:gs pos="0">
                  <a:srgbClr val="0453B9">
                    <a:alpha val="100000"/>
                  </a:srgbClr>
                </a:gs>
                <a:gs pos="100000">
                  <a:srgbClr val="398DF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4384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476500" y="2314575"/>
            <a:ext cx="13335000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40"/>
              </a:lnSpc>
              <a:spcBef>
                <a:spcPct val="0"/>
              </a:spcBef>
            </a:pPr>
            <a:r>
              <a:rPr lang="en-US" sz="5600" u="none" strike="noStrike">
                <a:solidFill>
                  <a:srgbClr val="0453B9"/>
                </a:solidFill>
                <a:latin typeface="Francois One"/>
                <a:ea typeface="Francois One"/>
                <a:cs typeface="Francois One"/>
                <a:sym typeface="Francois One"/>
              </a:rPr>
              <a:t>XIN TRÂN TRỌNG CẢM ƠN!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191500" y="3286125"/>
            <a:ext cx="1905000" cy="38100"/>
            <a:chOff x="0" y="0"/>
            <a:chExt cx="2540000" cy="50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540000" cy="50800"/>
            </a:xfrm>
            <a:custGeom>
              <a:avLst/>
              <a:gdLst/>
              <a:ahLst/>
              <a:cxnLst/>
              <a:rect l="l" t="t" r="r" b="b"/>
              <a:pathLst>
                <a:path w="2540000" h="50800">
                  <a:moveTo>
                    <a:pt x="5080" y="0"/>
                  </a:moveTo>
                  <a:lnTo>
                    <a:pt x="2534920" y="0"/>
                  </a:lnTo>
                  <a:cubicBezTo>
                    <a:pt x="2537726" y="0"/>
                    <a:pt x="2540000" y="2274"/>
                    <a:pt x="2540000" y="5080"/>
                  </a:cubicBezTo>
                  <a:lnTo>
                    <a:pt x="2540000" y="45720"/>
                  </a:lnTo>
                  <a:cubicBezTo>
                    <a:pt x="2540000" y="48526"/>
                    <a:pt x="2537726" y="50800"/>
                    <a:pt x="2534920" y="50800"/>
                  </a:cubicBezTo>
                  <a:lnTo>
                    <a:pt x="5080" y="50800"/>
                  </a:lnTo>
                  <a:cubicBezTo>
                    <a:pt x="3733" y="50800"/>
                    <a:pt x="2441" y="50265"/>
                    <a:pt x="1488" y="49312"/>
                  </a:cubicBezTo>
                  <a:cubicBezTo>
                    <a:pt x="535" y="48359"/>
                    <a:pt x="0" y="47067"/>
                    <a:pt x="0" y="45720"/>
                  </a:cubicBezTo>
                  <a:lnTo>
                    <a:pt x="0" y="5080"/>
                  </a:lnTo>
                  <a:cubicBezTo>
                    <a:pt x="0" y="2274"/>
                    <a:pt x="2274" y="0"/>
                    <a:pt x="5080" y="0"/>
                  </a:cubicBezTo>
                  <a:close/>
                </a:path>
              </a:pathLst>
            </a:custGeom>
            <a:solidFill>
              <a:srgbClr val="398DFA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540000" cy="88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3429000" y="3696335"/>
            <a:ext cx="11430000" cy="728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Em xin chân thành cảm ơn Quý thầy cô trong Hội đồng bảo vệ khóa luận tốt nghiệp </a:t>
            </a:r>
          </a:p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u="none" strike="noStrik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đã chú ý lắng nghe.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95167" y="4723765"/>
            <a:ext cx="11430000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199" i="1" dirty="0">
                <a:solidFill>
                  <a:srgbClr val="0453B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Và e</a:t>
            </a:r>
            <a:r>
              <a:rPr lang="en-US" sz="2199" i="1" u="none" strike="noStrike" dirty="0">
                <a:solidFill>
                  <a:srgbClr val="0453B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 rất mong nhận được những nhận xét và </a:t>
            </a:r>
          </a:p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199" i="1" u="none" strike="noStrike" dirty="0">
                <a:solidFill>
                  <a:srgbClr val="0453B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ý kiến đóng góp quý báu từ Quý thầy cô để</a:t>
            </a:r>
            <a:r>
              <a:rPr lang="en-US" sz="2199" b="1" i="1" u="none" strike="noStrike" dirty="0">
                <a:solidFill>
                  <a:srgbClr val="0453B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2199" i="1" u="none" strike="noStrike" dirty="0">
                <a:solidFill>
                  <a:srgbClr val="0453B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đề tài được hoàn thiện tốt nhất.</a:t>
            </a:r>
          </a:p>
        </p:txBody>
      </p:sp>
    </p:spTree>
  </p:cSld>
  <p:clrMapOvr>
    <a:masterClrMapping/>
  </p:clrMapOvr>
  <p:transition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731</Words>
  <Application>Microsoft Office PowerPoint</Application>
  <PresentationFormat>Custom</PresentationFormat>
  <Paragraphs>104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Poppins Bold</vt:lpstr>
      <vt:lpstr>Poppins</vt:lpstr>
      <vt:lpstr>Paytone One</vt:lpstr>
      <vt:lpstr>Arial</vt:lpstr>
      <vt:lpstr>Francois One</vt:lpstr>
      <vt:lpstr>Poppins Italics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KLTN CUA VUNGOCHUYEN</dc:title>
  <dc:creator>Hoang Ha</dc:creator>
  <cp:lastModifiedBy>Hoàng ngọc Sơn Hà</cp:lastModifiedBy>
  <cp:revision>3</cp:revision>
  <dcterms:created xsi:type="dcterms:W3CDTF">2006-08-16T00:00:00Z</dcterms:created>
  <dcterms:modified xsi:type="dcterms:W3CDTF">2026-09-06T09:49:19Z</dcterms:modified>
  <dc:identifier>DAHMD6jeU_I</dc:identifier>
</cp:coreProperties>
</file>